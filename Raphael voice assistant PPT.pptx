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handoutMasterIdLst>
    <p:handoutMasterId r:id="rId23"/>
  </p:handoutMasterIdLst>
  <p:sldIdLst>
    <p:sldId id="256" r:id="rId3"/>
    <p:sldId id="291" r:id="rId4"/>
    <p:sldId id="292" r:id="rId5"/>
    <p:sldId id="293" r:id="rId6"/>
    <p:sldId id="294" r:id="rId7"/>
    <p:sldId id="299" r:id="rId8"/>
    <p:sldId id="295" r:id="rId9"/>
    <p:sldId id="296" r:id="rId10"/>
    <p:sldId id="297" r:id="rId12"/>
    <p:sldId id="298" r:id="rId13"/>
    <p:sldId id="300" r:id="rId14"/>
    <p:sldId id="302" r:id="rId15"/>
    <p:sldId id="303" r:id="rId16"/>
    <p:sldId id="304" r:id="rId17"/>
    <p:sldId id="305" r:id="rId18"/>
    <p:sldId id="306" r:id="rId19"/>
    <p:sldId id="307" r:id="rId20"/>
    <p:sldId id="308" r:id="rId21"/>
    <p:sldId id="277" r:id="rId22"/>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anose="02010600030101010101" pitchFamily="2" charset="-122"/>
        <a:cs typeface="+mn-cs"/>
      </a:defRPr>
    </a:lvl9pPr>
  </p:defaultTextStyle>
  <p:extLst>
    <p:ext uri="{EFAFB233-063F-42B5-8137-9DF3F51BA10A}">
      <p15:sldGuideLst xmlns:p15="http://schemas.microsoft.com/office/powerpoint/2012/main">
        <p15:guide id="1" orient="horz" pos="2153" userDrawn="1">
          <p15:clr>
            <a:srgbClr val="A4A3A4"/>
          </p15:clr>
        </p15:guide>
        <p15:guide id="2" pos="28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9FB"/>
    <a:srgbClr val="778E6C"/>
    <a:srgbClr val="22935A"/>
    <a:srgbClr val="00B2B8"/>
    <a:srgbClr val="EDEEEF"/>
    <a:srgbClr val="00BAC1"/>
    <a:srgbClr val="000D1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snapToGrid="0" showGuides="1">
      <p:cViewPr>
        <p:scale>
          <a:sx n="66" d="100"/>
          <a:sy n="66" d="100"/>
        </p:scale>
        <p:origin x="1692" y="420"/>
      </p:cViewPr>
      <p:guideLst>
        <p:guide orient="horz" pos="2153"/>
        <p:guide pos="2892"/>
      </p:guideLst>
    </p:cSldViewPr>
  </p:slideViewPr>
  <p:notesTextViewPr>
    <p:cViewPr>
      <p:scale>
        <a:sx n="1" d="1"/>
        <a:sy n="1" d="1"/>
      </p:scale>
      <p:origin x="0" y="0"/>
    </p:cViewPr>
  </p:notesTextViewPr>
  <p:sorterViewPr showFormatting="0">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handoutMaster" Target="handoutMasters/handoutMaster1.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0F9B84EA-7D68-4D60-9CB1-D50884785D1C}" type="datetimeFigureOut">
              <a:rPr lang="zh-CN" altLang="en-US" strike="noStrike" noProof="1" smtClean="0">
                <a:latin typeface="Calibri" panose="020F0502020204030204" pitchFamily="34" charset="0"/>
                <a:ea typeface="SimSun" panose="02010600030101010101" pitchFamily="2" charset="-122"/>
                <a:cs typeface="+mn-cs"/>
              </a:rPr>
            </a:fld>
            <a:endParaRPr lang="zh-CN" altLang="en-US" strike="noStrike" noProof="1"/>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5" name="灯片编号占位符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8D4E0FC9-F1F8-4FAE-9988-3BA365CFD46F}" type="slidenum">
              <a:rPr lang="zh-CN" altLang="en-US" strike="noStrike" noProof="1" smtClean="0">
                <a:latin typeface="Calibri" panose="020F0502020204030204" pitchFamily="34" charset="0"/>
                <a:ea typeface="SimSun" panose="02010600030101010101" pitchFamily="2"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Click to edit Master text style</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Second level</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Third level</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Fourth level</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Fifth level</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defRPr/>
            </a:pPr>
            <a:fld id="{1F0158F6-F74B-4D46-AA42-4F86F55BF172}" type="slidenum">
              <a:rPr kumimoji="0" lang="zh-CN" altLang="en-US" sz="1200" b="0" i="0" u="none" strike="noStrike" kern="1200" cap="none" spc="0" normalizeH="0" baseline="0" noProof="0" smtClean="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pPr fontAlgn="auto"/>
            <a:r>
              <a:rPr lang="zh-CN" altLang="en-US" strike="noStrike" noProof="1"/>
              <a:t>Click to edit Master title style</a:t>
            </a:r>
            <a:endParaRPr lang="zh-CN" altLang="en-US" strike="noStrike" noProof="1"/>
          </a:p>
        </p:txBody>
      </p:sp>
      <p:sp>
        <p:nvSpPr>
          <p:cNvPr id="3" name="日期占位符 2"/>
          <p:cNvSpPr>
            <a:spLocks noGrp="1"/>
          </p:cNvSpPr>
          <p:nvPr>
            <p:ph type="dt" sz="half" idx="10"/>
          </p:nvPr>
        </p:nvSpPr>
        <p:spPr>
          <a:xfrm>
            <a:off x="838200" y="6356350"/>
            <a:ext cx="2743200" cy="365125"/>
          </a:xfrm>
        </p:spPr>
        <p:txBody>
          <a:bodyPr/>
          <a:lstStyle/>
          <a:p>
            <a:pPr fontAlgn="base"/>
            <a:fld id="{263DB197-84B0-484E-9C0F-88358ECCB797}" type="datetimeFigureOut">
              <a:rPr lang="zh-CN" altLang="en-US" strike="noStrike" noProof="1" smtClean="0">
                <a:latin typeface="Calibri" panose="020F0502020204030204" pitchFamily="34" charset="0"/>
                <a:ea typeface="SimSun" panose="02010600030101010101" pitchFamily="2" charset="-122"/>
                <a:cs typeface="+mn-cs"/>
              </a:rPr>
            </a:fld>
            <a:endParaRPr lang="zh-CN" altLang="en-US" strike="noStrike" noProof="1"/>
          </a:p>
        </p:txBody>
      </p:sp>
      <p:sp>
        <p:nvSpPr>
          <p:cNvPr id="4" name="页脚占位符 3"/>
          <p:cNvSpPr>
            <a:spLocks noGrp="1"/>
          </p:cNvSpPr>
          <p:nvPr>
            <p:ph type="ftr" sz="quarter" idx="11"/>
          </p:nvPr>
        </p:nvSpPr>
        <p:spPr>
          <a:xfrm>
            <a:off x="4038600" y="6356350"/>
            <a:ext cx="4114800" cy="365125"/>
          </a:xfrm>
        </p:spPr>
        <p:txBody>
          <a:bodyPr/>
          <a:lstStyle/>
          <a:p>
            <a:pPr fontAlgn="base"/>
            <a:endParaRPr lang="zh-CN" altLang="en-US" strike="noStrike" noProof="1"/>
          </a:p>
        </p:txBody>
      </p:sp>
      <p:sp>
        <p:nvSpPr>
          <p:cNvPr id="5" name="灯片编号占位符 4"/>
          <p:cNvSpPr>
            <a:spLocks noGrp="1"/>
          </p:cNvSpPr>
          <p:nvPr>
            <p:ph type="sldNum" sz="quarter" idx="12"/>
          </p:nvPr>
        </p:nvSpPr>
        <p:spPr>
          <a:xfrm>
            <a:off x="8610600" y="6356350"/>
            <a:ext cx="2743200" cy="365125"/>
          </a:xfrm>
        </p:spPr>
        <p:txBody>
          <a:bodyPr/>
          <a:lstStyle/>
          <a:p>
            <a:pPr fontAlgn="base"/>
            <a:fld id="{E077DA78-E013-4A8C-AD75-63A150561B10}" type="slidenum">
              <a:rPr lang="zh-CN" altLang="en-US" strike="noStrike" noProof="1" smtClean="0">
                <a:latin typeface="Calibri" panose="020F0502020204030204" pitchFamily="34" charset="0"/>
                <a:ea typeface="SimSun" panose="02010600030101010101" pitchFamily="2" charset="-122"/>
                <a:cs typeface="+mn-cs"/>
              </a:rPr>
            </a:fld>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1"/>
          <a:srcRect l="14185" t="24529" r="26515" b="27426"/>
          <a:stretch>
            <a:fillRect/>
          </a:stretch>
        </p:blipFill>
        <p:spPr>
          <a:xfrm>
            <a:off x="0" y="9525"/>
            <a:ext cx="9143365" cy="6858000"/>
          </a:xfrm>
          <a:prstGeom prst="rect">
            <a:avLst/>
          </a:prstGeom>
          <a:noFill/>
          <a:ln w="9525">
            <a:noFill/>
          </a:ln>
        </p:spPr>
      </p:pic>
      <p:grpSp>
        <p:nvGrpSpPr>
          <p:cNvPr id="5122" name="组合 1"/>
          <p:cNvGrpSpPr/>
          <p:nvPr/>
        </p:nvGrpSpPr>
        <p:grpSpPr>
          <a:xfrm>
            <a:off x="590550" y="1409700"/>
            <a:ext cx="8090535" cy="4773295"/>
            <a:chOff x="1652553" y="2114164"/>
            <a:chExt cx="7314040" cy="2916863"/>
          </a:xfrm>
        </p:grpSpPr>
        <p:sp>
          <p:nvSpPr>
            <p:cNvPr id="5123" name="文本框 4"/>
            <p:cNvSpPr txBox="1"/>
            <p:nvPr/>
          </p:nvSpPr>
          <p:spPr>
            <a:xfrm>
              <a:off x="1693117" y="2694665"/>
              <a:ext cx="7273476" cy="2162522"/>
            </a:xfrm>
            <a:prstGeom prst="rect">
              <a:avLst/>
            </a:prstGeom>
            <a:noFill/>
            <a:ln w="9525">
              <a:noFill/>
            </a:ln>
          </p:spPr>
          <p:txBody>
            <a:bodyPr wrap="square" anchor="t">
              <a:noAutofit/>
            </a:bodyPr>
            <a:p>
              <a:pPr algn="ctr"/>
              <a:endParaRPr lang="en-US" altLang="zh-CN" sz="2000" b="1" dirty="0">
                <a:solidFill>
                  <a:schemeClr val="accent1">
                    <a:lumMod val="20000"/>
                    <a:lumOff val="80000"/>
                  </a:schemeClr>
                </a:solidFill>
                <a:ea typeface="Calibri" panose="020F0502020204030204" pitchFamily="34" charset="0"/>
              </a:endParaRPr>
            </a:p>
            <a:p>
              <a:pPr algn="ctr"/>
              <a:endParaRPr lang="en-US" altLang="zh-CN" sz="2000" b="1" dirty="0">
                <a:solidFill>
                  <a:schemeClr val="accent1">
                    <a:lumMod val="20000"/>
                    <a:lumOff val="80000"/>
                  </a:schemeClr>
                </a:solidFill>
                <a:ea typeface="Calibri" panose="020F0502020204030204" pitchFamily="34" charset="0"/>
              </a:endParaRPr>
            </a:p>
            <a:p>
              <a:pPr algn="ctr"/>
              <a:endParaRPr lang="en-US" altLang="zh-CN" sz="2000" b="1" dirty="0">
                <a:solidFill>
                  <a:schemeClr val="accent1">
                    <a:lumMod val="20000"/>
                    <a:lumOff val="80000"/>
                  </a:schemeClr>
                </a:solidFill>
                <a:ea typeface="Calibri" panose="020F0502020204030204" pitchFamily="34" charset="0"/>
              </a:endParaRPr>
            </a:p>
            <a:p>
              <a:pPr algn="ctr"/>
              <a:endParaRPr lang="en-US" altLang="zh-CN" sz="2000" b="1" dirty="0">
                <a:solidFill>
                  <a:schemeClr val="accent1">
                    <a:lumMod val="20000"/>
                    <a:lumOff val="80000"/>
                  </a:schemeClr>
                </a:solidFill>
                <a:ea typeface="Calibri" panose="020F0502020204030204" pitchFamily="34" charset="0"/>
              </a:endParaRPr>
            </a:p>
            <a:p>
              <a:pPr algn="ctr"/>
              <a:endParaRPr lang="en-US" altLang="zh-CN" sz="2000" b="1" dirty="0">
                <a:solidFill>
                  <a:schemeClr val="accent1">
                    <a:lumMod val="20000"/>
                    <a:lumOff val="80000"/>
                  </a:schemeClr>
                </a:solidFill>
                <a:ea typeface="Calibri" panose="020F0502020204030204" pitchFamily="34" charset="0"/>
              </a:endParaRPr>
            </a:p>
            <a:p>
              <a:pPr algn="ctr"/>
              <a:r>
                <a:rPr lang="en-US" altLang="zh-CN" sz="2000" b="1" dirty="0">
                  <a:solidFill>
                    <a:schemeClr val="accent1">
                      <a:lumMod val="20000"/>
                      <a:lumOff val="80000"/>
                    </a:schemeClr>
                  </a:solidFill>
                  <a:ea typeface="Calibri" panose="020F0502020204030204" pitchFamily="34" charset="0"/>
                </a:rPr>
                <a:t>PRESENTED BY- HIMANSHU</a:t>
              </a:r>
              <a:endParaRPr lang="en-US" altLang="zh-CN" sz="2000" b="1" dirty="0">
                <a:solidFill>
                  <a:schemeClr val="accent1">
                    <a:lumMod val="20000"/>
                    <a:lumOff val="80000"/>
                  </a:schemeClr>
                </a:solidFill>
                <a:ea typeface="Calibri" panose="020F0502020204030204" pitchFamily="34" charset="0"/>
              </a:endParaRPr>
            </a:p>
            <a:p>
              <a:pPr algn="l"/>
              <a:endParaRPr lang="en-US" altLang="zh-CN" sz="2000" b="1" dirty="0">
                <a:solidFill>
                  <a:schemeClr val="accent1">
                    <a:lumMod val="20000"/>
                    <a:lumOff val="80000"/>
                  </a:schemeClr>
                </a:solidFill>
                <a:ea typeface="Calibri" panose="020F0502020204030204" pitchFamily="34" charset="0"/>
              </a:endParaRPr>
            </a:p>
            <a:p>
              <a:pPr algn="l"/>
              <a:endParaRPr lang="en-US" altLang="zh-CN" sz="2000" b="1" dirty="0">
                <a:solidFill>
                  <a:schemeClr val="accent1">
                    <a:lumMod val="20000"/>
                    <a:lumOff val="80000"/>
                  </a:schemeClr>
                </a:solidFill>
                <a:ea typeface="Calibri" panose="020F0502020204030204" pitchFamily="34" charset="0"/>
              </a:endParaRPr>
            </a:p>
            <a:p>
              <a:pPr algn="ctr"/>
              <a:r>
                <a:rPr lang="en-US" altLang="zh-CN" sz="2000" b="1" dirty="0">
                  <a:solidFill>
                    <a:schemeClr val="accent1">
                      <a:lumMod val="20000"/>
                      <a:lumOff val="80000"/>
                    </a:schemeClr>
                  </a:solidFill>
                  <a:ea typeface="Calibri" panose="020F0502020204030204" pitchFamily="34" charset="0"/>
                </a:rPr>
                <a:t>                                                   </a:t>
              </a:r>
              <a:endParaRPr lang="en-US" altLang="zh-CN" sz="2000" b="1" dirty="0">
                <a:solidFill>
                  <a:schemeClr val="accent1">
                    <a:lumMod val="20000"/>
                    <a:lumOff val="80000"/>
                  </a:schemeClr>
                </a:solidFill>
                <a:ea typeface="Calibri" panose="020F0502020204030204" pitchFamily="34" charset="0"/>
              </a:endParaRPr>
            </a:p>
            <a:p>
              <a:pPr algn="l"/>
              <a:endParaRPr lang="en-US" altLang="zh-CN" sz="2000" b="1" dirty="0">
                <a:solidFill>
                  <a:schemeClr val="accent1">
                    <a:lumMod val="20000"/>
                    <a:lumOff val="80000"/>
                  </a:schemeClr>
                </a:solidFill>
                <a:ea typeface="Calibri" panose="020F0502020204030204" pitchFamily="34" charset="0"/>
              </a:endParaRPr>
            </a:p>
            <a:p>
              <a:pPr algn="l"/>
              <a:endParaRPr lang="en-US" altLang="zh-CN" sz="2000" b="1" dirty="0">
                <a:solidFill>
                  <a:schemeClr val="accent1">
                    <a:lumMod val="20000"/>
                    <a:lumOff val="80000"/>
                  </a:schemeClr>
                </a:solidFill>
                <a:ea typeface="Calibri" panose="020F0502020204030204" pitchFamily="34" charset="0"/>
                <a:cs typeface="Calibri" panose="020F0502020204030204" pitchFamily="34" charset="0"/>
              </a:endParaRPr>
            </a:p>
          </p:txBody>
        </p:sp>
        <p:sp>
          <p:nvSpPr>
            <p:cNvPr id="5124" name="文本框 5"/>
            <p:cNvSpPr txBox="1"/>
            <p:nvPr/>
          </p:nvSpPr>
          <p:spPr>
            <a:xfrm>
              <a:off x="3550220" y="4385658"/>
              <a:ext cx="3559175" cy="275620"/>
            </a:xfrm>
            <a:prstGeom prst="rect">
              <a:avLst/>
            </a:prstGeom>
            <a:noFill/>
            <a:ln w="9525">
              <a:noFill/>
            </a:ln>
          </p:spPr>
          <p:txBody>
            <a:bodyPr anchor="t">
              <a:spAutoFit/>
            </a:bodyPr>
            <a:p>
              <a:endParaRPr lang="zh-CN" altLang="en-US" sz="1200" dirty="0">
                <a:solidFill>
                  <a:schemeClr val="bg1"/>
                </a:solidFill>
                <a:ea typeface="Calibri" panose="020F0502020204030204" pitchFamily="34" charset="0"/>
              </a:endParaRPr>
            </a:p>
          </p:txBody>
        </p:sp>
        <p:sp>
          <p:nvSpPr>
            <p:cNvPr id="5125" name="文本框 6"/>
            <p:cNvSpPr txBox="1"/>
            <p:nvPr/>
          </p:nvSpPr>
          <p:spPr>
            <a:xfrm>
              <a:off x="4219696" y="4662743"/>
              <a:ext cx="892175" cy="368284"/>
            </a:xfrm>
            <a:prstGeom prst="rect">
              <a:avLst/>
            </a:prstGeom>
            <a:noFill/>
            <a:ln w="9525">
              <a:noFill/>
            </a:ln>
          </p:spPr>
          <p:txBody>
            <a:bodyPr anchor="t">
              <a:spAutoFit/>
            </a:bodyPr>
            <a:p>
              <a:endParaRPr lang="zh-CN" altLang="en-US" dirty="0">
                <a:solidFill>
                  <a:schemeClr val="bg1"/>
                </a:solidFill>
                <a:ea typeface="Calibri" panose="020F0502020204030204" pitchFamily="34" charset="0"/>
              </a:endParaRPr>
            </a:p>
          </p:txBody>
        </p:sp>
        <p:sp>
          <p:nvSpPr>
            <p:cNvPr id="5126" name="文本框 7"/>
            <p:cNvSpPr txBox="1"/>
            <p:nvPr/>
          </p:nvSpPr>
          <p:spPr>
            <a:xfrm>
              <a:off x="1652553" y="2114164"/>
              <a:ext cx="7198307" cy="881229"/>
            </a:xfrm>
            <a:prstGeom prst="rect">
              <a:avLst/>
            </a:prstGeom>
            <a:noFill/>
            <a:ln w="9525">
              <a:noFill/>
            </a:ln>
          </p:spPr>
          <p:txBody>
            <a:bodyPr wrap="square" anchor="ctr" anchorCtr="0">
              <a:noAutofit/>
            </a:bodyPr>
            <a:p>
              <a:pPr algn="ctr">
                <a:lnSpc>
                  <a:spcPct val="110000"/>
                </a:lnSpc>
              </a:pPr>
              <a:r>
                <a:rPr lang="en-US" altLang="zh-CN" sz="4000" b="1" dirty="0">
                  <a:solidFill>
                    <a:srgbClr val="FFFF00"/>
                  </a:solidFill>
                  <a:ea typeface="Calibri" panose="020F0502020204030204" pitchFamily="34" charset="0"/>
                </a:rPr>
                <a:t>RapHaeL-MY PERSONAL VOICE ASSISTANT </a:t>
              </a:r>
              <a:endParaRPr lang="en-US" altLang="zh-CN" sz="4000" b="1" dirty="0">
                <a:solidFill>
                  <a:srgbClr val="FFFF00"/>
                </a:solidFill>
                <a:ea typeface="Calibri" panose="020F0502020204030204" pitchFamily="34" charset="0"/>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1"/>
          <a:srcRect l="14185" t="24529" r="26515" b="27426"/>
          <a:stretch>
            <a:fillRect/>
          </a:stretch>
        </p:blipFill>
        <p:spPr>
          <a:xfrm>
            <a:off x="0" y="0"/>
            <a:ext cx="9143365" cy="6858635"/>
          </a:xfrm>
          <a:prstGeom prst="rect">
            <a:avLst/>
          </a:prstGeom>
          <a:noFill/>
          <a:ln w="9525">
            <a:noFill/>
          </a:ln>
        </p:spPr>
      </p:pic>
      <p:grpSp>
        <p:nvGrpSpPr>
          <p:cNvPr id="5122" name="组合 1"/>
          <p:cNvGrpSpPr/>
          <p:nvPr/>
        </p:nvGrpSpPr>
        <p:grpSpPr>
          <a:xfrm>
            <a:off x="476250" y="1869439"/>
            <a:ext cx="4360545" cy="4817111"/>
            <a:chOff x="2636395" y="3354900"/>
            <a:chExt cx="2632056" cy="1676127"/>
          </a:xfrm>
        </p:grpSpPr>
        <p:sp>
          <p:nvSpPr>
            <p:cNvPr id="5123" name="文本框 4"/>
            <p:cNvSpPr txBox="1"/>
            <p:nvPr/>
          </p:nvSpPr>
          <p:spPr>
            <a:xfrm>
              <a:off x="2636395" y="3354900"/>
              <a:ext cx="2632056" cy="1633262"/>
            </a:xfrm>
            <a:prstGeom prst="rect">
              <a:avLst/>
            </a:prstGeom>
            <a:noFill/>
            <a:ln w="9525">
              <a:noFill/>
            </a:ln>
          </p:spPr>
          <p:txBody>
            <a:bodyPr wrap="square" anchor="t">
              <a:noAutofit/>
            </a:bodyPr>
            <a:p>
              <a:pPr algn="l"/>
              <a:r>
                <a:rPr lang="en-US" altLang="en-US" sz="2000" b="1" dirty="0">
                  <a:solidFill>
                    <a:srgbClr val="00F9FB"/>
                  </a:solidFill>
                  <a:ea typeface="Calibri" panose="020F0502020204030204" pitchFamily="34" charset="0"/>
                  <a:cs typeface="Calibri" panose="020F0502020204030204" pitchFamily="34" charset="0"/>
                </a:rPr>
                <a:t>Raphael is an intelligent voice assistant developed using Python and web technologies. It can understand voice commands, respond verbally, and perform tasks such as answering queries, opening applications, and managing communication. Integrated with speech recognition and text-to-speech features, Raphael provides a hands-free, interactive user experience.</a:t>
              </a:r>
              <a:endParaRPr lang="en-US" altLang="en-US" sz="2000" b="1" dirty="0">
                <a:solidFill>
                  <a:srgbClr val="00F9FB"/>
                </a:solidFill>
                <a:ea typeface="Calibri" panose="020F0502020204030204" pitchFamily="34" charset="0"/>
                <a:cs typeface="Calibri" panose="020F0502020204030204" pitchFamily="34" charset="0"/>
              </a:endParaRPr>
            </a:p>
          </p:txBody>
        </p:sp>
        <p:sp>
          <p:nvSpPr>
            <p:cNvPr id="5125" name="文本框 6"/>
            <p:cNvSpPr txBox="1"/>
            <p:nvPr/>
          </p:nvSpPr>
          <p:spPr>
            <a:xfrm>
              <a:off x="4219696" y="4662743"/>
              <a:ext cx="892175" cy="368284"/>
            </a:xfrm>
            <a:prstGeom prst="rect">
              <a:avLst/>
            </a:prstGeom>
            <a:noFill/>
            <a:ln w="9525">
              <a:noFill/>
            </a:ln>
          </p:spPr>
          <p:txBody>
            <a:bodyPr anchor="t">
              <a:spAutoFit/>
            </a:bodyPr>
            <a:p>
              <a:endParaRPr lang="zh-CN" altLang="en-US" dirty="0">
                <a:solidFill>
                  <a:schemeClr val="bg1"/>
                </a:solidFill>
                <a:ea typeface="Calibri" panose="020F0502020204030204" pitchFamily="34" charset="0"/>
              </a:endParaRPr>
            </a:p>
          </p:txBody>
        </p:sp>
      </p:grpSp>
      <p:sp>
        <p:nvSpPr>
          <p:cNvPr id="2" name="Text Box 1"/>
          <p:cNvSpPr txBox="1"/>
          <p:nvPr/>
        </p:nvSpPr>
        <p:spPr>
          <a:xfrm>
            <a:off x="1504315" y="677545"/>
            <a:ext cx="5655945" cy="774700"/>
          </a:xfrm>
          <a:prstGeom prst="rect">
            <a:avLst/>
          </a:prstGeom>
          <a:noFill/>
        </p:spPr>
        <p:txBody>
          <a:bodyPr wrap="square" rtlCol="0">
            <a:noAutofit/>
          </a:bodyPr>
          <a:p>
            <a:pPr algn="ctr"/>
            <a:r>
              <a:rPr lang="en-US" altLang="zh-CN" sz="4000" b="1" dirty="0">
                <a:solidFill>
                  <a:srgbClr val="FFFF00"/>
                </a:solidFill>
                <a:ea typeface="Calibri" panose="020F0502020204030204" pitchFamily="34" charset="0"/>
                <a:cs typeface="Calibri" panose="020F0502020204030204" pitchFamily="34" charset="0"/>
                <a:sym typeface="+mn-ea"/>
              </a:rPr>
              <a:t>INTRODUCTION</a:t>
            </a:r>
            <a:endParaRPr lang="en-US" sz="4000"/>
          </a:p>
        </p:txBody>
      </p:sp>
      <p:sp>
        <p:nvSpPr>
          <p:cNvPr id="3" name="Text Box 2"/>
          <p:cNvSpPr txBox="1"/>
          <p:nvPr/>
        </p:nvSpPr>
        <p:spPr>
          <a:xfrm>
            <a:off x="5008245" y="1880235"/>
            <a:ext cx="3702050" cy="4683125"/>
          </a:xfrm>
          <a:prstGeom prst="rect">
            <a:avLst/>
          </a:prstGeom>
          <a:noFill/>
        </p:spPr>
        <p:txBody>
          <a:bodyPr wrap="square" rtlCol="0">
            <a:noAutofit/>
          </a:bodyPr>
          <a:p>
            <a:pPr algn="just"/>
            <a:r>
              <a:rPr lang="en-US" altLang="en-US" sz="2000" b="1">
                <a:solidFill>
                  <a:srgbClr val="00F9FB"/>
                </a:solidFill>
              </a:rPr>
              <a:t>The idea behind Raphael is to create a smart voice assistant that helps users interact with their computer using voice commands. Instead of typing or clicking, users can simply speak to perform tasks like opening apps, searching for information, or sending messages. This makes using a computer easier, faster, and more user-friendly.</a:t>
            </a:r>
            <a:endParaRPr lang="en-US" altLang="en-US" sz="2000" b="1">
              <a:solidFill>
                <a:srgbClr val="00F9FB"/>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1"/>
          <a:srcRect l="14185" t="24529" r="26515" b="27426"/>
          <a:stretch>
            <a:fillRect/>
          </a:stretch>
        </p:blipFill>
        <p:spPr>
          <a:xfrm>
            <a:off x="-635" y="0"/>
            <a:ext cx="9145270" cy="6858000"/>
          </a:xfrm>
          <a:prstGeom prst="rect">
            <a:avLst/>
          </a:prstGeom>
          <a:noFill/>
          <a:ln w="9525">
            <a:noFill/>
          </a:ln>
        </p:spPr>
      </p:pic>
      <p:sp>
        <p:nvSpPr>
          <p:cNvPr id="5125" name="文本框 6"/>
          <p:cNvSpPr txBox="1"/>
          <p:nvPr/>
        </p:nvSpPr>
        <p:spPr>
          <a:xfrm>
            <a:off x="3099435" y="5628005"/>
            <a:ext cx="1478280" cy="1058545"/>
          </a:xfrm>
          <a:prstGeom prst="rect">
            <a:avLst/>
          </a:prstGeom>
          <a:noFill/>
          <a:ln w="9525">
            <a:noFill/>
          </a:ln>
        </p:spPr>
        <p:txBody>
          <a:bodyPr anchor="t">
            <a:spAutoFit/>
          </a:bodyPr>
          <a:p>
            <a:endParaRPr lang="zh-CN" altLang="en-US" dirty="0">
              <a:solidFill>
                <a:schemeClr val="bg1"/>
              </a:solidFill>
              <a:ea typeface="Calibri" panose="020F0502020204030204" pitchFamily="34" charset="0"/>
            </a:endParaRPr>
          </a:p>
        </p:txBody>
      </p:sp>
      <p:sp>
        <p:nvSpPr>
          <p:cNvPr id="4" name="Text Box 3"/>
          <p:cNvSpPr txBox="1"/>
          <p:nvPr/>
        </p:nvSpPr>
        <p:spPr>
          <a:xfrm>
            <a:off x="4435475" y="492760"/>
            <a:ext cx="3942715" cy="916940"/>
          </a:xfrm>
          <a:prstGeom prst="rect">
            <a:avLst/>
          </a:prstGeom>
          <a:solidFill>
            <a:schemeClr val="tx1"/>
          </a:solidFill>
        </p:spPr>
        <p:txBody>
          <a:bodyPr wrap="square" rtlCol="0">
            <a:noAutofit/>
          </a:bodyPr>
          <a:p>
            <a:r>
              <a:rPr lang="en-US" sz="4000" b="1">
                <a:solidFill>
                  <a:srgbClr val="FF0000"/>
                </a:solidFill>
              </a:rPr>
              <a:t>ABOUT RAPHAEL</a:t>
            </a:r>
            <a:endParaRPr lang="en-US" sz="4000" b="1">
              <a:solidFill>
                <a:srgbClr val="FF0000"/>
              </a:solidFill>
            </a:endParaRPr>
          </a:p>
        </p:txBody>
      </p:sp>
      <p:sp>
        <p:nvSpPr>
          <p:cNvPr id="6" name="Text Box 5"/>
          <p:cNvSpPr txBox="1"/>
          <p:nvPr/>
        </p:nvSpPr>
        <p:spPr>
          <a:xfrm>
            <a:off x="4435475" y="1514475"/>
            <a:ext cx="4708525" cy="4302125"/>
          </a:xfrm>
          <a:prstGeom prst="rect">
            <a:avLst/>
          </a:prstGeom>
          <a:solidFill>
            <a:schemeClr val="bg1"/>
          </a:solidFill>
        </p:spPr>
        <p:txBody>
          <a:bodyPr wrap="square" rtlCol="0">
            <a:noAutofit/>
          </a:bodyPr>
          <a:p>
            <a:pPr marL="457200" indent="-457200">
              <a:buFont typeface="Arial" panose="020B0604020202020204" pitchFamily="34" charset="0"/>
              <a:buChar char="•"/>
            </a:pPr>
            <a:r>
              <a:rPr lang="en-US" altLang="en-US" sz="2400" b="1">
                <a:solidFill>
                  <a:srgbClr val="22935A"/>
                </a:solidFill>
              </a:rPr>
              <a:t>RapHael is a desktop-based AI voice assistant.</a:t>
            </a:r>
            <a:endParaRPr lang="en-US" altLang="en-US" sz="2400" b="1">
              <a:solidFill>
                <a:srgbClr val="22935A"/>
              </a:solidFill>
            </a:endParaRPr>
          </a:p>
          <a:p>
            <a:pPr marL="457200" indent="-457200">
              <a:buFont typeface="Arial" panose="020B0604020202020204" pitchFamily="34" charset="0"/>
              <a:buChar char="•"/>
            </a:pPr>
            <a:r>
              <a:rPr lang="en-US" altLang="en-US" sz="2400" b="1">
                <a:solidFill>
                  <a:srgbClr val="22935A"/>
                </a:solidFill>
              </a:rPr>
              <a:t>It responds to voice and text input </a:t>
            </a:r>
            <a:endParaRPr lang="en-US" altLang="en-US" sz="2400" b="1">
              <a:solidFill>
                <a:srgbClr val="22935A"/>
              </a:solidFill>
            </a:endParaRPr>
          </a:p>
          <a:p>
            <a:pPr marL="457200" indent="-457200">
              <a:buFont typeface="Arial" panose="020B0604020202020204" pitchFamily="34" charset="0"/>
              <a:buChar char="•"/>
            </a:pPr>
            <a:r>
              <a:rPr lang="en-US" altLang="en-US" sz="2400" b="1">
                <a:solidFill>
                  <a:srgbClr val="22935A"/>
                </a:solidFill>
              </a:rPr>
              <a:t>Performs task like opening applications,     </a:t>
            </a:r>
            <a:endParaRPr lang="en-US" altLang="en-US" sz="2400" b="1">
              <a:solidFill>
                <a:srgbClr val="22935A"/>
              </a:solidFill>
            </a:endParaRPr>
          </a:p>
          <a:p>
            <a:pPr>
              <a:buFont typeface="Arial" panose="020B0604020202020204" pitchFamily="34" charset="0"/>
            </a:pPr>
            <a:r>
              <a:rPr lang="en-US" altLang="en-US" sz="2400" b="1">
                <a:solidFill>
                  <a:srgbClr val="22935A"/>
                </a:solidFill>
              </a:rPr>
              <a:t>      communication feature and </a:t>
            </a:r>
            <a:endParaRPr lang="en-US" altLang="en-US" sz="2400" b="1">
              <a:solidFill>
                <a:srgbClr val="22935A"/>
              </a:solidFill>
            </a:endParaRPr>
          </a:p>
          <a:p>
            <a:pPr>
              <a:buFont typeface="Arial" panose="020B0604020202020204" pitchFamily="34" charset="0"/>
            </a:pPr>
            <a:r>
              <a:rPr lang="en-US" altLang="en-US" sz="2400" b="1">
                <a:solidFill>
                  <a:srgbClr val="22935A"/>
                </a:solidFill>
              </a:rPr>
              <a:t>       </a:t>
            </a:r>
            <a:r>
              <a:rPr lang="en-US" altLang="en-US" sz="2400" b="1">
                <a:solidFill>
                  <a:srgbClr val="22935A"/>
                </a:solidFill>
                <a:sym typeface="+mn-ea"/>
              </a:rPr>
              <a:t>more.</a:t>
            </a:r>
            <a:r>
              <a:rPr lang="en-US" altLang="en-US" sz="2400" b="1">
                <a:solidFill>
                  <a:srgbClr val="22935A"/>
                </a:solidFill>
              </a:rPr>
              <a:t>    </a:t>
            </a:r>
            <a:endParaRPr lang="en-US" altLang="en-US" sz="2400" b="1">
              <a:solidFill>
                <a:srgbClr val="22935A"/>
              </a:solidFill>
            </a:endParaRPr>
          </a:p>
          <a:p>
            <a:pPr marL="457200" indent="-457200">
              <a:buFont typeface="Arial" panose="020B0604020202020204" pitchFamily="34" charset="0"/>
              <a:buChar char="•"/>
            </a:pPr>
            <a:r>
              <a:rPr lang="en-US" altLang="en-US" sz="2400" b="1">
                <a:solidFill>
                  <a:srgbClr val="22935A"/>
                </a:solidFill>
              </a:rPr>
              <a:t>Interactive, sleek UI with real-time animation and response.</a:t>
            </a:r>
            <a:endParaRPr lang="en-US" altLang="en-US" sz="2400" b="1">
              <a:solidFill>
                <a:srgbClr val="22935A"/>
              </a:solidFill>
            </a:endParaRPr>
          </a:p>
          <a:p>
            <a:pPr marL="457200" indent="-457200">
              <a:buFont typeface="Arial" panose="020B0604020202020204" pitchFamily="34" charset="0"/>
              <a:buChar char="•"/>
            </a:pPr>
            <a:r>
              <a:rPr lang="en-US" altLang="en-US" sz="2400" b="1">
                <a:solidFill>
                  <a:srgbClr val="22935A"/>
                </a:solidFill>
              </a:rPr>
              <a:t>Chat interface with history.</a:t>
            </a:r>
            <a:endParaRPr lang="en-US" altLang="en-US" sz="2400" b="1">
              <a:solidFill>
                <a:srgbClr val="22935A"/>
              </a:solidFill>
            </a:endParaRPr>
          </a:p>
          <a:p>
            <a:pPr marL="457200" indent="-457200">
              <a:buFont typeface="Arial" panose="020B0604020202020204" pitchFamily="34" charset="0"/>
              <a:buChar char="•"/>
            </a:pPr>
            <a:endParaRPr lang="en-US" altLang="en-US" sz="2400" b="1">
              <a:solidFill>
                <a:srgbClr val="22935A"/>
              </a:solidFill>
            </a:endParaRPr>
          </a:p>
        </p:txBody>
      </p:sp>
      <p:pic>
        <p:nvPicPr>
          <p:cNvPr id="8" name="Picture 7"/>
          <p:cNvPicPr>
            <a:picLocks noChangeAspect="1"/>
          </p:cNvPicPr>
          <p:nvPr/>
        </p:nvPicPr>
        <p:blipFill>
          <a:blip r:embed="rId2"/>
          <a:stretch>
            <a:fillRect/>
          </a:stretch>
        </p:blipFill>
        <p:spPr>
          <a:xfrm>
            <a:off x="0" y="635"/>
            <a:ext cx="424434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1"/>
          <a:srcRect l="14185" t="24529" r="26515" b="27426"/>
          <a:stretch>
            <a:fillRect/>
          </a:stretch>
        </p:blipFill>
        <p:spPr>
          <a:xfrm>
            <a:off x="-635" y="-60325"/>
            <a:ext cx="9144635" cy="6918325"/>
          </a:xfrm>
          <a:prstGeom prst="rect">
            <a:avLst/>
          </a:prstGeom>
          <a:noFill/>
          <a:ln w="9525">
            <a:noFill/>
          </a:ln>
        </p:spPr>
      </p:pic>
      <p:sp>
        <p:nvSpPr>
          <p:cNvPr id="5125" name="文本框 6"/>
          <p:cNvSpPr txBox="1"/>
          <p:nvPr/>
        </p:nvSpPr>
        <p:spPr>
          <a:xfrm>
            <a:off x="3099435" y="5628005"/>
            <a:ext cx="1478280" cy="1058545"/>
          </a:xfrm>
          <a:prstGeom prst="rect">
            <a:avLst/>
          </a:prstGeom>
          <a:noFill/>
          <a:ln w="9525">
            <a:noFill/>
          </a:ln>
        </p:spPr>
        <p:txBody>
          <a:bodyPr anchor="t">
            <a:spAutoFit/>
          </a:bodyPr>
          <a:p>
            <a:endParaRPr lang="zh-CN" altLang="en-US" dirty="0">
              <a:solidFill>
                <a:schemeClr val="bg1"/>
              </a:solidFill>
              <a:ea typeface="Calibri" panose="020F0502020204030204" pitchFamily="34" charset="0"/>
            </a:endParaRPr>
          </a:p>
        </p:txBody>
      </p:sp>
      <p:sp>
        <p:nvSpPr>
          <p:cNvPr id="4" name="Text Box 3"/>
          <p:cNvSpPr txBox="1"/>
          <p:nvPr/>
        </p:nvSpPr>
        <p:spPr>
          <a:xfrm>
            <a:off x="588645" y="624840"/>
            <a:ext cx="4098290" cy="583565"/>
          </a:xfrm>
          <a:prstGeom prst="rect">
            <a:avLst/>
          </a:prstGeom>
          <a:noFill/>
        </p:spPr>
        <p:txBody>
          <a:bodyPr wrap="square" rtlCol="0">
            <a:spAutoFit/>
          </a:bodyPr>
          <a:p>
            <a:r>
              <a:rPr lang="en-US" sz="3200" b="1">
                <a:solidFill>
                  <a:schemeClr val="bg1"/>
                </a:solidFill>
              </a:rPr>
              <a:t>TECHNOLOGY STACK</a:t>
            </a:r>
            <a:endParaRPr lang="en-US" sz="3200" b="1">
              <a:solidFill>
                <a:schemeClr val="bg1"/>
              </a:solidFill>
            </a:endParaRPr>
          </a:p>
        </p:txBody>
      </p:sp>
      <p:sp>
        <p:nvSpPr>
          <p:cNvPr id="5" name="Text Box 4"/>
          <p:cNvSpPr txBox="1"/>
          <p:nvPr/>
        </p:nvSpPr>
        <p:spPr>
          <a:xfrm>
            <a:off x="203200" y="2282825"/>
            <a:ext cx="5266690" cy="3896995"/>
          </a:xfrm>
          <a:prstGeom prst="rect">
            <a:avLst/>
          </a:prstGeom>
          <a:solidFill>
            <a:schemeClr val="tx1"/>
          </a:solidFill>
          <a:ln>
            <a:solidFill>
              <a:srgbClr val="FFFF00"/>
            </a:solidFill>
          </a:ln>
        </p:spPr>
        <p:style>
          <a:lnRef idx="2">
            <a:schemeClr val="accent1"/>
          </a:lnRef>
          <a:fillRef idx="0">
            <a:srgbClr val="FFFFFF"/>
          </a:fillRef>
          <a:effectRef idx="0">
            <a:srgbClr val="FFFFFF"/>
          </a:effectRef>
          <a:fontRef idx="minor">
            <a:schemeClr val="tx1"/>
          </a:fontRef>
        </p:style>
        <p:txBody>
          <a:bodyPr wrap="square" rtlCol="0">
            <a:noAutofit/>
          </a:bodyPr>
          <a:p>
            <a:endParaRPr lang="en-US" sz="2000" b="1">
              <a:solidFill>
                <a:schemeClr val="bg1"/>
              </a:solidFill>
            </a:endParaRPr>
          </a:p>
          <a:p>
            <a:r>
              <a:rPr lang="en-US" sz="2000" b="1">
                <a:solidFill>
                  <a:schemeClr val="bg1"/>
                </a:solidFill>
              </a:rPr>
              <a:t>FRONTEND - </a:t>
            </a:r>
            <a:r>
              <a:rPr lang="en-US" altLang="en-US" sz="2000" b="1">
                <a:solidFill>
                  <a:schemeClr val="bg1"/>
                </a:solidFill>
              </a:rPr>
              <a:t>HTML, CSS, JavaScript, Bootstrap</a:t>
            </a:r>
            <a:endParaRPr lang="en-US" altLang="en-US" sz="2000" b="1">
              <a:solidFill>
                <a:schemeClr val="bg1"/>
              </a:solidFill>
            </a:endParaRPr>
          </a:p>
          <a:p>
            <a:endParaRPr lang="en-US" altLang="en-US" sz="2000" b="1">
              <a:solidFill>
                <a:schemeClr val="bg1"/>
              </a:solidFill>
            </a:endParaRPr>
          </a:p>
          <a:p>
            <a:r>
              <a:rPr lang="en-US" altLang="en-US" sz="2000" b="1">
                <a:solidFill>
                  <a:schemeClr val="bg1"/>
                </a:solidFill>
              </a:rPr>
              <a:t>BACKEND - Python ,Eel </a:t>
            </a:r>
            <a:endParaRPr lang="en-US" altLang="en-US" sz="2000" b="1">
              <a:solidFill>
                <a:schemeClr val="bg1"/>
              </a:solidFill>
            </a:endParaRPr>
          </a:p>
          <a:p>
            <a:endParaRPr lang="en-US" altLang="en-US" sz="2000" b="1">
              <a:solidFill>
                <a:schemeClr val="bg1"/>
              </a:solidFill>
            </a:endParaRPr>
          </a:p>
          <a:p>
            <a:r>
              <a:rPr lang="en-US" altLang="en-US" sz="2000" b="1">
                <a:solidFill>
                  <a:schemeClr val="bg1"/>
                </a:solidFill>
              </a:rPr>
              <a:t>Libraries - pyttsx3, speech_recognition, pyaudio,</a:t>
            </a:r>
            <a:endParaRPr lang="en-US" altLang="en-US" sz="2000" b="1">
              <a:solidFill>
                <a:schemeClr val="bg1"/>
              </a:solidFill>
            </a:endParaRPr>
          </a:p>
          <a:p>
            <a:r>
              <a:rPr lang="en-US" altLang="en-US" sz="2000" b="1">
                <a:solidFill>
                  <a:schemeClr val="bg1"/>
                </a:solidFill>
              </a:rPr>
              <a:t>                    </a:t>
            </a:r>
            <a:r>
              <a:rPr lang="en-US" altLang="en-US" sz="2000" b="1">
                <a:solidFill>
                  <a:schemeClr val="bg1"/>
                </a:solidFill>
                <a:sym typeface="+mn-ea"/>
              </a:rPr>
              <a:t>pyautogui, hugchat , </a:t>
            </a:r>
            <a:r>
              <a:rPr lang="en-US" altLang="en-US" sz="2000" b="1">
                <a:solidFill>
                  <a:schemeClr val="bg1"/>
                </a:solidFill>
                <a:sym typeface="+mn-ea"/>
              </a:rPr>
              <a:t>sqlite3.</a:t>
            </a:r>
            <a:endParaRPr lang="en-US" altLang="en-US" sz="2000" b="1">
              <a:solidFill>
                <a:schemeClr val="bg1"/>
              </a:solidFill>
            </a:endParaRPr>
          </a:p>
          <a:p>
            <a:r>
              <a:rPr lang="en-US" altLang="en-US" sz="2000" b="1">
                <a:solidFill>
                  <a:schemeClr val="bg1"/>
                </a:solidFill>
                <a:sym typeface="+mn-ea"/>
              </a:rPr>
              <a:t>                    </a:t>
            </a:r>
            <a:endParaRPr lang="en-US" altLang="en-US" sz="2000" b="1">
              <a:solidFill>
                <a:schemeClr val="bg1"/>
              </a:solidFill>
            </a:endParaRPr>
          </a:p>
          <a:p>
            <a:r>
              <a:rPr lang="en-US" altLang="en-US" sz="2000" b="1">
                <a:solidFill>
                  <a:schemeClr val="bg1"/>
                </a:solidFill>
              </a:rPr>
              <a:t>  </a:t>
            </a:r>
            <a:endParaRPr lang="en-US" altLang="en-US" sz="2000" b="1">
              <a:solidFill>
                <a:schemeClr val="bg1"/>
              </a:solidFill>
            </a:endParaRPr>
          </a:p>
          <a:p>
            <a:r>
              <a:rPr lang="en-US" altLang="en-US" sz="2000" b="1">
                <a:solidFill>
                  <a:schemeClr val="bg1"/>
                </a:solidFill>
              </a:rPr>
              <a:t>Tools: Bootstrap, Bootstrap  Icons, Textillate.js,</a:t>
            </a:r>
            <a:endParaRPr lang="en-US" altLang="en-US" sz="2000" b="1">
              <a:solidFill>
                <a:schemeClr val="bg1"/>
              </a:solidFill>
            </a:endParaRPr>
          </a:p>
          <a:p>
            <a:r>
              <a:rPr lang="en-US" altLang="en-US" sz="2000" b="1">
                <a:solidFill>
                  <a:schemeClr val="bg1"/>
                </a:solidFill>
              </a:rPr>
              <a:t>             </a:t>
            </a:r>
            <a:r>
              <a:rPr lang="en-US" altLang="en-US" sz="2000" b="1">
                <a:solidFill>
                  <a:schemeClr val="bg1"/>
                </a:solidFill>
                <a:sym typeface="+mn-ea"/>
              </a:rPr>
              <a:t>SiriWave.js ,Vs Code, </a:t>
            </a:r>
            <a:r>
              <a:rPr lang="en-US" altLang="en-US" sz="2000" b="1">
                <a:solidFill>
                  <a:schemeClr val="bg1"/>
                </a:solidFill>
                <a:sym typeface="+mn-ea"/>
              </a:rPr>
              <a:t>Git ,GIthub</a:t>
            </a:r>
            <a:endParaRPr lang="en-US" altLang="en-US" sz="2000" b="1">
              <a:solidFill>
                <a:schemeClr val="bg1"/>
              </a:solidFill>
            </a:endParaRPr>
          </a:p>
          <a:p>
            <a:r>
              <a:rPr lang="en-US" altLang="en-US" sz="2000" b="1">
                <a:solidFill>
                  <a:schemeClr val="bg1"/>
                </a:solidFill>
                <a:sym typeface="+mn-ea"/>
              </a:rPr>
              <a:t>            </a:t>
            </a:r>
            <a:endParaRPr lang="en-US" altLang="en-US" sz="2000" b="1">
              <a:solidFill>
                <a:schemeClr val="bg1"/>
              </a:solidFill>
            </a:endParaRPr>
          </a:p>
          <a:p>
            <a:r>
              <a:rPr lang="en-US" altLang="en-US" sz="2000" b="1">
                <a:solidFill>
                  <a:schemeClr val="bg1"/>
                </a:solidFill>
              </a:rPr>
              <a:t> </a:t>
            </a:r>
            <a:endParaRPr lang="en-US" altLang="en-US" sz="2000" b="1">
              <a:solidFill>
                <a:schemeClr val="bg1"/>
              </a:solidFill>
            </a:endParaRPr>
          </a:p>
        </p:txBody>
      </p:sp>
      <p:pic>
        <p:nvPicPr>
          <p:cNvPr id="6" name="Image 0" descr="preencoded.png"/>
          <p:cNvPicPr>
            <a:picLocks noChangeAspect="1"/>
          </p:cNvPicPr>
          <p:nvPr/>
        </p:nvPicPr>
        <p:blipFill>
          <a:blip r:embed="rId2"/>
          <a:stretch>
            <a:fillRect/>
          </a:stretch>
        </p:blipFill>
        <p:spPr>
          <a:xfrm>
            <a:off x="5546725" y="-635"/>
            <a:ext cx="3597275" cy="685863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1"/>
          <a:srcRect l="14185" t="24529" r="26515" b="27426"/>
          <a:stretch>
            <a:fillRect/>
          </a:stretch>
        </p:blipFill>
        <p:spPr>
          <a:xfrm>
            <a:off x="0" y="0"/>
            <a:ext cx="9144000" cy="6768465"/>
          </a:xfrm>
          <a:prstGeom prst="rect">
            <a:avLst/>
          </a:prstGeom>
          <a:noFill/>
          <a:ln w="9525">
            <a:noFill/>
          </a:ln>
        </p:spPr>
      </p:pic>
      <p:sp>
        <p:nvSpPr>
          <p:cNvPr id="5125" name="文本框 6"/>
          <p:cNvSpPr txBox="1"/>
          <p:nvPr/>
        </p:nvSpPr>
        <p:spPr>
          <a:xfrm>
            <a:off x="3099435" y="5628005"/>
            <a:ext cx="1478280" cy="1058545"/>
          </a:xfrm>
          <a:prstGeom prst="rect">
            <a:avLst/>
          </a:prstGeom>
          <a:noFill/>
          <a:ln w="9525">
            <a:noFill/>
          </a:ln>
        </p:spPr>
        <p:txBody>
          <a:bodyPr anchor="t">
            <a:spAutoFit/>
          </a:bodyPr>
          <a:p>
            <a:endParaRPr lang="zh-CN" altLang="en-US" dirty="0">
              <a:solidFill>
                <a:schemeClr val="bg1"/>
              </a:solidFill>
              <a:ea typeface="Calibri" panose="020F0502020204030204" pitchFamily="34" charset="0"/>
            </a:endParaRPr>
          </a:p>
        </p:txBody>
      </p:sp>
      <p:sp>
        <p:nvSpPr>
          <p:cNvPr id="2" name="Text Box 1"/>
          <p:cNvSpPr txBox="1"/>
          <p:nvPr/>
        </p:nvSpPr>
        <p:spPr>
          <a:xfrm>
            <a:off x="2314575" y="173355"/>
            <a:ext cx="4514850" cy="521970"/>
          </a:xfrm>
          <a:prstGeom prst="rect">
            <a:avLst/>
          </a:prstGeom>
          <a:noFill/>
        </p:spPr>
        <p:txBody>
          <a:bodyPr wrap="square" rtlCol="0">
            <a:spAutoFit/>
          </a:bodyPr>
          <a:p>
            <a:r>
              <a:rPr lang="en-US" sz="2800" b="1">
                <a:solidFill>
                  <a:srgbClr val="FF0000"/>
                </a:solidFill>
              </a:rPr>
              <a:t>COMPONENT  DISCRIPTIONS</a:t>
            </a:r>
            <a:endParaRPr lang="en-US" sz="2800" b="1">
              <a:solidFill>
                <a:srgbClr val="FF0000"/>
              </a:solidFill>
            </a:endParaRPr>
          </a:p>
        </p:txBody>
      </p:sp>
      <p:sp>
        <p:nvSpPr>
          <p:cNvPr id="3" name="Oval 2"/>
          <p:cNvSpPr/>
          <p:nvPr/>
        </p:nvSpPr>
        <p:spPr>
          <a:xfrm>
            <a:off x="537845" y="1219200"/>
            <a:ext cx="1964055" cy="1184275"/>
          </a:xfrm>
          <a:prstGeom prst="ellipse">
            <a:avLst/>
          </a:prstGeom>
          <a:solidFill>
            <a:schemeClr val="bg2">
              <a:lumMod val="9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sz="1600">
                <a:solidFill>
                  <a:srgbClr val="C00000"/>
                </a:solidFill>
              </a:rPr>
              <a:t>USER INTERFACE</a:t>
            </a:r>
            <a:endParaRPr lang="en-US" sz="1600">
              <a:solidFill>
                <a:srgbClr val="C00000"/>
              </a:solidFill>
            </a:endParaRPr>
          </a:p>
        </p:txBody>
      </p:sp>
      <p:sp>
        <p:nvSpPr>
          <p:cNvPr id="4" name="Rectangles 3"/>
          <p:cNvSpPr/>
          <p:nvPr/>
        </p:nvSpPr>
        <p:spPr>
          <a:xfrm>
            <a:off x="537845" y="2403475"/>
            <a:ext cx="1963420" cy="1187450"/>
          </a:xfrm>
          <a:prstGeom prst="rect">
            <a:avLst/>
          </a:prstGeom>
          <a:solidFill>
            <a:srgbClr val="EDEEEF"/>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l"/>
            <a:endParaRPr lang="en-US" altLang="en-US" sz="1400">
              <a:solidFill>
                <a:schemeClr val="tx1"/>
              </a:solidFill>
            </a:endParaRPr>
          </a:p>
          <a:p>
            <a:pPr algn="l"/>
            <a:endParaRPr lang="en-US" altLang="en-US" sz="1400">
              <a:solidFill>
                <a:schemeClr val="tx1"/>
              </a:solidFill>
            </a:endParaRPr>
          </a:p>
          <a:p>
            <a:pPr algn="l"/>
            <a:r>
              <a:rPr lang="en-US" altLang="en-US" sz="1400">
                <a:solidFill>
                  <a:schemeClr val="tx1"/>
                </a:solidFill>
              </a:rPr>
              <a:t>1. Provides input field,</a:t>
            </a:r>
            <a:endParaRPr lang="en-US" altLang="en-US" sz="1400">
              <a:solidFill>
                <a:schemeClr val="tx1"/>
              </a:solidFill>
            </a:endParaRPr>
          </a:p>
          <a:p>
            <a:pPr algn="l"/>
            <a:r>
              <a:rPr lang="en-US" altLang="en-US" sz="1400">
                <a:solidFill>
                  <a:schemeClr val="tx1"/>
                </a:solidFill>
              </a:rPr>
              <a:t>   mic button, settings, </a:t>
            </a:r>
            <a:endParaRPr lang="en-US" altLang="en-US" sz="1400">
              <a:solidFill>
                <a:schemeClr val="tx1"/>
              </a:solidFill>
            </a:endParaRPr>
          </a:p>
          <a:p>
            <a:pPr algn="l"/>
            <a:r>
              <a:rPr lang="en-US" altLang="en-US" sz="1400">
                <a:solidFill>
                  <a:schemeClr val="tx1"/>
                </a:solidFill>
              </a:rPr>
              <a:t>    </a:t>
            </a:r>
            <a:r>
              <a:rPr lang="en-US" altLang="en-US" sz="1400">
                <a:solidFill>
                  <a:schemeClr val="tx1"/>
                </a:solidFill>
                <a:sym typeface="+mn-ea"/>
              </a:rPr>
              <a:t>and chat interface.</a:t>
            </a:r>
            <a:endParaRPr lang="en-US" altLang="en-US" sz="1400">
              <a:solidFill>
                <a:schemeClr val="tx1"/>
              </a:solidFill>
            </a:endParaRPr>
          </a:p>
          <a:p>
            <a:pPr algn="l"/>
            <a:r>
              <a:rPr lang="en-US" altLang="en-US" sz="1400">
                <a:solidFill>
                  <a:schemeClr val="tx1"/>
                </a:solidFill>
              </a:rPr>
              <a:t>2. Siri wave rendering</a:t>
            </a:r>
            <a:endParaRPr lang="en-US" altLang="en-US" sz="1400">
              <a:solidFill>
                <a:schemeClr val="tx1"/>
              </a:solidFill>
            </a:endParaRPr>
          </a:p>
          <a:p>
            <a:pPr algn="l"/>
            <a:r>
              <a:rPr lang="en-US" altLang="en-US" sz="1400">
                <a:solidFill>
                  <a:schemeClr val="tx1"/>
                </a:solidFill>
              </a:rPr>
              <a:t>3. Animated cirlces</a:t>
            </a:r>
            <a:endParaRPr lang="en-US" altLang="en-US" sz="1400">
              <a:solidFill>
                <a:schemeClr val="tx1"/>
              </a:solidFill>
            </a:endParaRPr>
          </a:p>
          <a:p>
            <a:pPr algn="l"/>
            <a:endParaRPr lang="en-US" altLang="en-US" sz="1200">
              <a:solidFill>
                <a:schemeClr val="tx1"/>
              </a:solidFill>
            </a:endParaRPr>
          </a:p>
          <a:p>
            <a:pPr algn="l"/>
            <a:endParaRPr lang="en-US" altLang="en-US" sz="1200">
              <a:solidFill>
                <a:schemeClr val="tx1"/>
              </a:solidFill>
            </a:endParaRPr>
          </a:p>
          <a:p>
            <a:pPr algn="l"/>
            <a:endParaRPr lang="en-US" altLang="en-US" sz="1200">
              <a:solidFill>
                <a:schemeClr val="tx1"/>
              </a:solidFill>
            </a:endParaRPr>
          </a:p>
        </p:txBody>
      </p:sp>
      <p:sp>
        <p:nvSpPr>
          <p:cNvPr id="5" name="Oval 4"/>
          <p:cNvSpPr/>
          <p:nvPr/>
        </p:nvSpPr>
        <p:spPr>
          <a:xfrm>
            <a:off x="3099435" y="1219200"/>
            <a:ext cx="1964055" cy="1184275"/>
          </a:xfrm>
          <a:prstGeom prst="ellipse">
            <a:avLst/>
          </a:prstGeom>
          <a:solidFill>
            <a:schemeClr val="bg2">
              <a:lumMod val="9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sz="1600">
                <a:solidFill>
                  <a:srgbClr val="C00000"/>
                </a:solidFill>
              </a:rPr>
              <a:t>Frontend Javascript</a:t>
            </a:r>
            <a:endParaRPr lang="en-US" sz="1600">
              <a:solidFill>
                <a:srgbClr val="C00000"/>
              </a:solidFill>
            </a:endParaRPr>
          </a:p>
        </p:txBody>
      </p:sp>
      <p:sp>
        <p:nvSpPr>
          <p:cNvPr id="7" name="Rectangles 6"/>
          <p:cNvSpPr/>
          <p:nvPr/>
        </p:nvSpPr>
        <p:spPr>
          <a:xfrm>
            <a:off x="3100070" y="2403475"/>
            <a:ext cx="1963420" cy="1187450"/>
          </a:xfrm>
          <a:prstGeom prst="rect">
            <a:avLst/>
          </a:prstGeom>
          <a:solidFill>
            <a:srgbClr val="EDEEEF"/>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l">
              <a:lnSpc>
                <a:spcPct val="90000"/>
              </a:lnSpc>
            </a:pPr>
            <a:r>
              <a:rPr lang="en-US" altLang="en-US" sz="1400">
                <a:solidFill>
                  <a:schemeClr val="tx1"/>
                </a:solidFill>
              </a:rPr>
              <a:t>1. Handling Buttons  </a:t>
            </a:r>
            <a:endParaRPr lang="en-US" altLang="en-US" sz="1400">
              <a:solidFill>
                <a:schemeClr val="tx1"/>
              </a:solidFill>
            </a:endParaRPr>
          </a:p>
          <a:p>
            <a:pPr algn="l">
              <a:lnSpc>
                <a:spcPct val="90000"/>
              </a:lnSpc>
            </a:pPr>
            <a:r>
              <a:rPr lang="en-US" altLang="en-US" sz="1400">
                <a:solidFill>
                  <a:schemeClr val="tx1"/>
                </a:solidFill>
              </a:rPr>
              <a:t>     </a:t>
            </a:r>
            <a:r>
              <a:rPr lang="en-US" altLang="en-US" sz="1400">
                <a:solidFill>
                  <a:schemeClr val="tx1"/>
                </a:solidFill>
                <a:sym typeface="+mn-ea"/>
              </a:rPr>
              <a:t>clicks</a:t>
            </a:r>
            <a:endParaRPr lang="en-US" altLang="en-US" sz="1400">
              <a:solidFill>
                <a:schemeClr val="tx1"/>
              </a:solidFill>
            </a:endParaRPr>
          </a:p>
          <a:p>
            <a:pPr algn="l">
              <a:lnSpc>
                <a:spcPct val="90000"/>
              </a:lnSpc>
            </a:pPr>
            <a:r>
              <a:rPr lang="en-US" altLang="en-US" sz="1400">
                <a:solidFill>
                  <a:schemeClr val="tx1"/>
                </a:solidFill>
              </a:rPr>
              <a:t>2. Listening to user </a:t>
            </a:r>
            <a:endParaRPr lang="en-US" altLang="en-US" sz="1400">
              <a:solidFill>
                <a:schemeClr val="tx1"/>
              </a:solidFill>
            </a:endParaRPr>
          </a:p>
          <a:p>
            <a:pPr algn="l">
              <a:lnSpc>
                <a:spcPct val="90000"/>
              </a:lnSpc>
            </a:pPr>
            <a:r>
              <a:rPr lang="en-US" altLang="en-US" sz="1400">
                <a:solidFill>
                  <a:schemeClr val="tx1"/>
                </a:solidFill>
              </a:rPr>
              <a:t>     </a:t>
            </a:r>
            <a:r>
              <a:rPr lang="en-US" altLang="en-US" sz="1400">
                <a:solidFill>
                  <a:schemeClr val="tx1"/>
                </a:solidFill>
                <a:sym typeface="+mn-ea"/>
              </a:rPr>
              <a:t>voices</a:t>
            </a:r>
            <a:endParaRPr lang="en-US" altLang="en-US" sz="1400">
              <a:solidFill>
                <a:schemeClr val="tx1"/>
              </a:solidFill>
            </a:endParaRPr>
          </a:p>
          <a:p>
            <a:pPr algn="l">
              <a:lnSpc>
                <a:spcPct val="90000"/>
              </a:lnSpc>
            </a:pPr>
            <a:r>
              <a:rPr lang="en-US" altLang="en-US" sz="1400">
                <a:solidFill>
                  <a:schemeClr val="tx1"/>
                </a:solidFill>
              </a:rPr>
              <a:t>3. Sending/Reciving </a:t>
            </a:r>
            <a:endParaRPr lang="en-US" altLang="en-US" sz="1400">
              <a:solidFill>
                <a:schemeClr val="tx1"/>
              </a:solidFill>
            </a:endParaRPr>
          </a:p>
          <a:p>
            <a:pPr algn="l">
              <a:lnSpc>
                <a:spcPct val="90000"/>
              </a:lnSpc>
            </a:pPr>
            <a:r>
              <a:rPr lang="en-US" altLang="en-US" sz="1400">
                <a:solidFill>
                  <a:schemeClr val="tx1"/>
                </a:solidFill>
              </a:rPr>
              <a:t>     messages using Eel</a:t>
            </a:r>
            <a:endParaRPr lang="en-US" altLang="en-US" sz="1400">
              <a:solidFill>
                <a:schemeClr val="tx1"/>
              </a:solidFill>
            </a:endParaRPr>
          </a:p>
        </p:txBody>
      </p:sp>
      <p:sp>
        <p:nvSpPr>
          <p:cNvPr id="8" name="Oval 7"/>
          <p:cNvSpPr/>
          <p:nvPr/>
        </p:nvSpPr>
        <p:spPr>
          <a:xfrm>
            <a:off x="5661660" y="1219200"/>
            <a:ext cx="1964055" cy="1184275"/>
          </a:xfrm>
          <a:prstGeom prst="ellipse">
            <a:avLst/>
          </a:prstGeom>
          <a:solidFill>
            <a:schemeClr val="bg2">
              <a:lumMod val="9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sz="1600">
                <a:solidFill>
                  <a:srgbClr val="C00000"/>
                </a:solidFill>
              </a:rPr>
              <a:t>Eel(Python)</a:t>
            </a:r>
            <a:endParaRPr lang="en-US" sz="1600">
              <a:solidFill>
                <a:srgbClr val="C00000"/>
              </a:solidFill>
            </a:endParaRPr>
          </a:p>
        </p:txBody>
      </p:sp>
      <p:sp>
        <p:nvSpPr>
          <p:cNvPr id="9" name="Rectangles 8"/>
          <p:cNvSpPr/>
          <p:nvPr/>
        </p:nvSpPr>
        <p:spPr>
          <a:xfrm>
            <a:off x="5662295" y="2403475"/>
            <a:ext cx="1963420" cy="1187450"/>
          </a:xfrm>
          <a:prstGeom prst="rect">
            <a:avLst/>
          </a:prstGeom>
          <a:solidFill>
            <a:srgbClr val="EDEEEF"/>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l">
              <a:lnSpc>
                <a:spcPct val="90000"/>
              </a:lnSpc>
            </a:pPr>
            <a:r>
              <a:rPr lang="en-US" altLang="en-US" sz="1400">
                <a:solidFill>
                  <a:schemeClr val="tx1"/>
                </a:solidFill>
              </a:rPr>
              <a:t>Act as a bridge between Frontend and Backend</a:t>
            </a:r>
            <a:endParaRPr lang="en-US" altLang="en-US" sz="1400">
              <a:solidFill>
                <a:schemeClr val="tx1"/>
              </a:solidFill>
            </a:endParaRPr>
          </a:p>
        </p:txBody>
      </p:sp>
      <p:sp>
        <p:nvSpPr>
          <p:cNvPr id="10" name="Oval 9"/>
          <p:cNvSpPr/>
          <p:nvPr/>
        </p:nvSpPr>
        <p:spPr>
          <a:xfrm>
            <a:off x="1641475" y="3778250"/>
            <a:ext cx="1964055" cy="1184275"/>
          </a:xfrm>
          <a:prstGeom prst="ellipse">
            <a:avLst/>
          </a:prstGeom>
          <a:solidFill>
            <a:schemeClr val="bg2">
              <a:lumMod val="9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sz="1600">
                <a:solidFill>
                  <a:srgbClr val="C00000"/>
                </a:solidFill>
              </a:rPr>
              <a:t>Python Backend</a:t>
            </a:r>
            <a:endParaRPr lang="en-US" sz="1600">
              <a:solidFill>
                <a:srgbClr val="C00000"/>
              </a:solidFill>
            </a:endParaRPr>
          </a:p>
        </p:txBody>
      </p:sp>
      <p:sp>
        <p:nvSpPr>
          <p:cNvPr id="11" name="Rectangles 10"/>
          <p:cNvSpPr/>
          <p:nvPr/>
        </p:nvSpPr>
        <p:spPr>
          <a:xfrm>
            <a:off x="1642110" y="5025390"/>
            <a:ext cx="1963420" cy="1409700"/>
          </a:xfrm>
          <a:prstGeom prst="rect">
            <a:avLst/>
          </a:prstGeom>
          <a:solidFill>
            <a:srgbClr val="EDEEEF"/>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l">
              <a:lnSpc>
                <a:spcPct val="90000"/>
              </a:lnSpc>
            </a:pPr>
            <a:r>
              <a:rPr lang="en-US" altLang="en-US" sz="1400">
                <a:solidFill>
                  <a:schemeClr val="tx1"/>
                </a:solidFill>
              </a:rPr>
              <a:t>1.speech_recognition </a:t>
            </a:r>
            <a:endParaRPr lang="en-US" altLang="en-US" sz="1400">
              <a:solidFill>
                <a:schemeClr val="tx1"/>
              </a:solidFill>
            </a:endParaRPr>
          </a:p>
          <a:p>
            <a:pPr algn="l">
              <a:lnSpc>
                <a:spcPct val="90000"/>
              </a:lnSpc>
            </a:pPr>
            <a:r>
              <a:rPr lang="en-US" altLang="en-US" sz="1400">
                <a:solidFill>
                  <a:schemeClr val="tx1"/>
                </a:solidFill>
              </a:rPr>
              <a:t>2.pyaudio</a:t>
            </a:r>
            <a:endParaRPr lang="en-US" altLang="en-US" sz="1400">
              <a:solidFill>
                <a:schemeClr val="tx1"/>
              </a:solidFill>
            </a:endParaRPr>
          </a:p>
          <a:p>
            <a:pPr algn="l">
              <a:lnSpc>
                <a:spcPct val="90000"/>
              </a:lnSpc>
            </a:pPr>
            <a:r>
              <a:rPr lang="en-US" altLang="en-US" sz="1400">
                <a:solidFill>
                  <a:schemeClr val="tx1"/>
                </a:solidFill>
              </a:rPr>
              <a:t>3.pyttsx3 </a:t>
            </a:r>
            <a:endParaRPr lang="en-US" altLang="en-US" sz="1400">
              <a:solidFill>
                <a:schemeClr val="tx1"/>
              </a:solidFill>
            </a:endParaRPr>
          </a:p>
          <a:p>
            <a:pPr algn="l">
              <a:lnSpc>
                <a:spcPct val="90000"/>
              </a:lnSpc>
            </a:pPr>
            <a:r>
              <a:rPr lang="en-US" altLang="en-US" sz="1400">
                <a:solidFill>
                  <a:schemeClr val="tx1"/>
                </a:solidFill>
              </a:rPr>
              <a:t>4.pyautogui</a:t>
            </a:r>
            <a:endParaRPr lang="en-US" altLang="en-US" sz="1400">
              <a:solidFill>
                <a:schemeClr val="tx1"/>
              </a:solidFill>
            </a:endParaRPr>
          </a:p>
          <a:p>
            <a:pPr algn="l">
              <a:lnSpc>
                <a:spcPct val="90000"/>
              </a:lnSpc>
            </a:pPr>
            <a:r>
              <a:rPr lang="en-US" altLang="en-US" sz="1400">
                <a:solidFill>
                  <a:schemeClr val="tx1"/>
                </a:solidFill>
              </a:rPr>
              <a:t>5.hugchat(AI Support)</a:t>
            </a:r>
            <a:endParaRPr lang="en-US" altLang="en-US" sz="1400">
              <a:solidFill>
                <a:schemeClr val="tx1"/>
              </a:solidFill>
            </a:endParaRPr>
          </a:p>
          <a:p>
            <a:pPr algn="l">
              <a:lnSpc>
                <a:spcPct val="90000"/>
              </a:lnSpc>
            </a:pPr>
            <a:r>
              <a:rPr lang="en-US" altLang="en-US" sz="1400">
                <a:solidFill>
                  <a:schemeClr val="tx1"/>
                </a:solidFill>
              </a:rPr>
              <a:t>6.Custom made</a:t>
            </a:r>
            <a:endParaRPr lang="en-US" altLang="en-US" sz="1400">
              <a:solidFill>
                <a:schemeClr val="tx1"/>
              </a:solidFill>
            </a:endParaRPr>
          </a:p>
          <a:p>
            <a:pPr algn="l">
              <a:lnSpc>
                <a:spcPct val="90000"/>
              </a:lnSpc>
            </a:pPr>
            <a:r>
              <a:rPr lang="en-US" altLang="en-US" sz="1400">
                <a:solidFill>
                  <a:schemeClr val="tx1"/>
                </a:solidFill>
              </a:rPr>
              <a:t>    functions</a:t>
            </a:r>
            <a:endParaRPr lang="en-US" altLang="en-US" sz="1400">
              <a:solidFill>
                <a:schemeClr val="tx1"/>
              </a:solidFill>
            </a:endParaRPr>
          </a:p>
        </p:txBody>
      </p:sp>
      <p:sp>
        <p:nvSpPr>
          <p:cNvPr id="12" name="Rectangles 11"/>
          <p:cNvSpPr/>
          <p:nvPr/>
        </p:nvSpPr>
        <p:spPr>
          <a:xfrm>
            <a:off x="5243195" y="5026025"/>
            <a:ext cx="1963420" cy="1409700"/>
          </a:xfrm>
          <a:prstGeom prst="rect">
            <a:avLst/>
          </a:prstGeom>
          <a:solidFill>
            <a:srgbClr val="EDEEEF"/>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l">
              <a:lnSpc>
                <a:spcPct val="90000"/>
              </a:lnSpc>
            </a:pPr>
            <a:r>
              <a:rPr lang="en-US" altLang="en-US" sz="1400">
                <a:solidFill>
                  <a:schemeClr val="tx1"/>
                </a:solidFill>
              </a:rPr>
              <a:t>1.Opens local apps</a:t>
            </a:r>
            <a:endParaRPr lang="en-US" altLang="en-US" sz="1400">
              <a:solidFill>
                <a:schemeClr val="tx1"/>
              </a:solidFill>
            </a:endParaRPr>
          </a:p>
          <a:p>
            <a:pPr algn="l">
              <a:lnSpc>
                <a:spcPct val="90000"/>
              </a:lnSpc>
            </a:pPr>
            <a:endParaRPr lang="en-US" altLang="en-US" sz="1400">
              <a:solidFill>
                <a:schemeClr val="tx1"/>
              </a:solidFill>
            </a:endParaRPr>
          </a:p>
          <a:p>
            <a:pPr algn="l">
              <a:lnSpc>
                <a:spcPct val="90000"/>
              </a:lnSpc>
            </a:pPr>
            <a:r>
              <a:rPr lang="en-US" altLang="en-US" sz="1400">
                <a:solidFill>
                  <a:schemeClr val="tx1"/>
                </a:solidFill>
              </a:rPr>
              <a:t>2.Using os command as</a:t>
            </a:r>
            <a:endParaRPr lang="en-US" altLang="en-US" sz="1400">
              <a:solidFill>
                <a:schemeClr val="tx1"/>
              </a:solidFill>
            </a:endParaRPr>
          </a:p>
          <a:p>
            <a:pPr algn="l">
              <a:lnSpc>
                <a:spcPct val="90000"/>
              </a:lnSpc>
            </a:pPr>
            <a:r>
              <a:rPr lang="en-US" altLang="en-US" sz="1400">
                <a:solidFill>
                  <a:schemeClr val="tx1"/>
                </a:solidFill>
              </a:rPr>
              <a:t>    support for other </a:t>
            </a:r>
            <a:endParaRPr lang="en-US" altLang="en-US" sz="1400">
              <a:solidFill>
                <a:schemeClr val="tx1"/>
              </a:solidFill>
            </a:endParaRPr>
          </a:p>
          <a:p>
            <a:pPr algn="l">
              <a:lnSpc>
                <a:spcPct val="90000"/>
              </a:lnSpc>
            </a:pPr>
            <a:r>
              <a:rPr lang="en-US" altLang="en-US" sz="1400">
                <a:solidFill>
                  <a:schemeClr val="tx1"/>
                </a:solidFill>
              </a:rPr>
              <a:t>     functions</a:t>
            </a:r>
            <a:endParaRPr lang="en-US" altLang="en-US" sz="1400">
              <a:solidFill>
                <a:schemeClr val="tx1"/>
              </a:solidFill>
            </a:endParaRPr>
          </a:p>
        </p:txBody>
      </p:sp>
      <p:sp>
        <p:nvSpPr>
          <p:cNvPr id="13" name="Oval 12"/>
          <p:cNvSpPr/>
          <p:nvPr/>
        </p:nvSpPr>
        <p:spPr>
          <a:xfrm>
            <a:off x="5242560" y="3778250"/>
            <a:ext cx="1964055" cy="1184275"/>
          </a:xfrm>
          <a:prstGeom prst="ellipse">
            <a:avLst/>
          </a:prstGeom>
          <a:solidFill>
            <a:schemeClr val="bg2">
              <a:lumMod val="9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1600">
                <a:solidFill>
                  <a:srgbClr val="C00000"/>
                </a:solidFill>
              </a:rPr>
              <a:t>OS Functions</a:t>
            </a:r>
            <a:endParaRPr lang="en-US" altLang="en-US" sz="1600">
              <a:solidFill>
                <a:srgbClr val="C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1"/>
          <a:srcRect l="14185" t="24529" r="26515" b="27426"/>
          <a:stretch>
            <a:fillRect/>
          </a:stretch>
        </p:blipFill>
        <p:spPr>
          <a:xfrm>
            <a:off x="0" y="0"/>
            <a:ext cx="9144000" cy="6768465"/>
          </a:xfrm>
          <a:prstGeom prst="rect">
            <a:avLst/>
          </a:prstGeom>
          <a:noFill/>
          <a:ln w="9525">
            <a:noFill/>
          </a:ln>
        </p:spPr>
      </p:pic>
      <p:sp>
        <p:nvSpPr>
          <p:cNvPr id="5125" name="文本框 6"/>
          <p:cNvSpPr txBox="1"/>
          <p:nvPr/>
        </p:nvSpPr>
        <p:spPr>
          <a:xfrm>
            <a:off x="3099435" y="5628005"/>
            <a:ext cx="1478280" cy="1058545"/>
          </a:xfrm>
          <a:prstGeom prst="rect">
            <a:avLst/>
          </a:prstGeom>
          <a:noFill/>
          <a:ln w="9525">
            <a:noFill/>
          </a:ln>
        </p:spPr>
        <p:txBody>
          <a:bodyPr anchor="t">
            <a:spAutoFit/>
          </a:bodyPr>
          <a:p>
            <a:endParaRPr lang="zh-CN" altLang="en-US" dirty="0">
              <a:solidFill>
                <a:schemeClr val="bg1"/>
              </a:solidFill>
              <a:ea typeface="Calibri" panose="020F0502020204030204" pitchFamily="34" charset="0"/>
            </a:endParaRPr>
          </a:p>
        </p:txBody>
      </p:sp>
      <p:sp>
        <p:nvSpPr>
          <p:cNvPr id="2" name="Text Box 1"/>
          <p:cNvSpPr txBox="1"/>
          <p:nvPr/>
        </p:nvSpPr>
        <p:spPr>
          <a:xfrm>
            <a:off x="2242820" y="365760"/>
            <a:ext cx="4658995" cy="848360"/>
          </a:xfrm>
          <a:prstGeom prst="rect">
            <a:avLst/>
          </a:prstGeom>
          <a:noFill/>
        </p:spPr>
        <p:txBody>
          <a:bodyPr wrap="square" rtlCol="0">
            <a:noAutofit/>
          </a:bodyPr>
          <a:p>
            <a:pPr algn="ctr"/>
            <a:r>
              <a:rPr lang="en-US" altLang="en-US" sz="4000">
                <a:solidFill>
                  <a:schemeClr val="bg1"/>
                </a:solidFill>
                <a:highlight>
                  <a:srgbClr val="000000"/>
                </a:highlight>
              </a:rPr>
              <a:t>Key Functionalities:</a:t>
            </a:r>
            <a:endParaRPr lang="en-US" altLang="en-US" sz="4000">
              <a:solidFill>
                <a:schemeClr val="bg1"/>
              </a:solidFill>
              <a:highlight>
                <a:srgbClr val="000000"/>
              </a:highlight>
            </a:endParaRPr>
          </a:p>
        </p:txBody>
      </p:sp>
      <p:sp>
        <p:nvSpPr>
          <p:cNvPr id="3" name="Text Box 2"/>
          <p:cNvSpPr txBox="1"/>
          <p:nvPr/>
        </p:nvSpPr>
        <p:spPr>
          <a:xfrm>
            <a:off x="616585" y="1774190"/>
            <a:ext cx="8121015" cy="4505960"/>
          </a:xfrm>
          <a:prstGeom prst="rect">
            <a:avLst/>
          </a:prstGeom>
          <a:solidFill>
            <a:schemeClr val="accent6">
              <a:lumMod val="50000"/>
            </a:schemeClr>
          </a:solidFill>
        </p:spPr>
        <p:txBody>
          <a:bodyPr wrap="square" rtlCol="0">
            <a:noAutofit/>
          </a:bodyPr>
          <a:p>
            <a:r>
              <a:rPr lang="en-US" altLang="en-US" sz="2000">
                <a:solidFill>
                  <a:schemeClr val="accent4"/>
                </a:solidFill>
              </a:rPr>
              <a:t>1. Listens to the user’s voice input on mic click.</a:t>
            </a:r>
            <a:endParaRPr lang="en-US" altLang="en-US" sz="2000">
              <a:solidFill>
                <a:schemeClr val="accent4"/>
              </a:solidFill>
            </a:endParaRPr>
          </a:p>
          <a:p>
            <a:endParaRPr lang="en-US" altLang="en-US" sz="2000">
              <a:solidFill>
                <a:schemeClr val="accent4"/>
              </a:solidFill>
            </a:endParaRPr>
          </a:p>
          <a:p>
            <a:r>
              <a:rPr lang="en-US" altLang="en-US" sz="2000">
                <a:solidFill>
                  <a:schemeClr val="accent4"/>
                </a:solidFill>
              </a:rPr>
              <a:t>2. Converts speech to text using SpeechRecognition.</a:t>
            </a:r>
            <a:endParaRPr lang="en-US" altLang="en-US" sz="2000">
              <a:solidFill>
                <a:schemeClr val="accent4"/>
              </a:solidFill>
            </a:endParaRPr>
          </a:p>
          <a:p>
            <a:endParaRPr lang="en-US" altLang="en-US" sz="2000">
              <a:solidFill>
                <a:schemeClr val="accent4"/>
              </a:solidFill>
            </a:endParaRPr>
          </a:p>
          <a:p>
            <a:r>
              <a:rPr lang="en-US" altLang="en-US" sz="2000">
                <a:solidFill>
                  <a:schemeClr val="accent4"/>
                </a:solidFill>
              </a:rPr>
              <a:t>3. Analyzes the command using conditions or ChatGPT API.</a:t>
            </a:r>
            <a:endParaRPr lang="en-US" altLang="en-US" sz="2000">
              <a:solidFill>
                <a:schemeClr val="accent4"/>
              </a:solidFill>
            </a:endParaRPr>
          </a:p>
          <a:p>
            <a:endParaRPr lang="en-US" altLang="en-US" sz="2000">
              <a:solidFill>
                <a:schemeClr val="accent4"/>
              </a:solidFill>
            </a:endParaRPr>
          </a:p>
          <a:p>
            <a:r>
              <a:rPr lang="en-US" altLang="en-US" sz="2000">
                <a:solidFill>
                  <a:schemeClr val="accent4"/>
                </a:solidFill>
              </a:rPr>
              <a:t>4. Executes actions like opening apps, fetching responses, or replying vocally.</a:t>
            </a:r>
            <a:endParaRPr lang="en-US" altLang="en-US" sz="2000">
              <a:solidFill>
                <a:schemeClr val="accent4"/>
              </a:solidFill>
            </a:endParaRPr>
          </a:p>
          <a:p>
            <a:endParaRPr lang="en-US" altLang="en-US" sz="2000">
              <a:solidFill>
                <a:schemeClr val="accent4"/>
              </a:solidFill>
            </a:endParaRPr>
          </a:p>
          <a:p>
            <a:r>
              <a:rPr lang="en-US" altLang="en-US" sz="2000">
                <a:solidFill>
                  <a:schemeClr val="accent4"/>
                </a:solidFill>
              </a:rPr>
              <a:t>5. Uses pyttsx3 to speak the response.</a:t>
            </a:r>
            <a:endParaRPr lang="en-US" altLang="en-US" sz="2000">
              <a:solidFill>
                <a:schemeClr val="accent4"/>
              </a:solidFill>
            </a:endParaRPr>
          </a:p>
          <a:p>
            <a:endParaRPr lang="en-US" altLang="en-US" sz="2000">
              <a:solidFill>
                <a:schemeClr val="accent4"/>
              </a:solidFill>
            </a:endParaRPr>
          </a:p>
          <a:p>
            <a:r>
              <a:rPr lang="en-US" altLang="en-US" sz="2000">
                <a:solidFill>
                  <a:schemeClr val="accent4"/>
                </a:solidFill>
              </a:rPr>
              <a:t>6. Sends output text to frontend for display.</a:t>
            </a:r>
            <a:endParaRPr lang="en-US" altLang="en-US" sz="2000">
              <a:solidFill>
                <a:schemeClr val="accent4"/>
              </a:solidFill>
            </a:endParaRPr>
          </a:p>
          <a:p>
            <a:endParaRPr lang="en-US" altLang="en-US" sz="2000">
              <a:solidFill>
                <a:schemeClr val="accent4"/>
              </a:solidFill>
            </a:endParaRPr>
          </a:p>
          <a:p>
            <a:r>
              <a:rPr lang="en-US" altLang="en-US" sz="2000">
                <a:solidFill>
                  <a:schemeClr val="accent4"/>
                </a:solidFill>
              </a:rPr>
              <a:t>7. Maintains session via eel communication loop.</a:t>
            </a:r>
            <a:endParaRPr lang="en-US" altLang="en-US" sz="2000">
              <a:solidFill>
                <a:schemeClr val="accent4"/>
              </a:solidFill>
            </a:endParaRPr>
          </a:p>
          <a:p>
            <a:endParaRPr lang="en-US" altLang="en-US" sz="2000">
              <a:solidFill>
                <a:schemeClr val="accent4"/>
              </a:solidFill>
            </a:endParaRPr>
          </a:p>
          <a:p>
            <a:endParaRPr lang="en-US" altLang="en-US" sz="2000">
              <a:solidFill>
                <a:schemeClr val="accent4"/>
              </a:solidFill>
            </a:endParaRPr>
          </a:p>
          <a:p>
            <a:endParaRPr lang="en-US" altLang="en-US" sz="2000">
              <a:solidFill>
                <a:schemeClr val="accent4"/>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1"/>
          <a:srcRect l="14185" t="24529" r="26515" b="27426"/>
          <a:stretch>
            <a:fillRect/>
          </a:stretch>
        </p:blipFill>
        <p:spPr>
          <a:xfrm>
            <a:off x="0" y="0"/>
            <a:ext cx="9144000" cy="6768465"/>
          </a:xfrm>
          <a:prstGeom prst="rect">
            <a:avLst/>
          </a:prstGeom>
          <a:noFill/>
          <a:ln w="9525">
            <a:noFill/>
          </a:ln>
        </p:spPr>
      </p:pic>
      <p:sp>
        <p:nvSpPr>
          <p:cNvPr id="5125" name="文本框 6"/>
          <p:cNvSpPr txBox="1"/>
          <p:nvPr/>
        </p:nvSpPr>
        <p:spPr>
          <a:xfrm>
            <a:off x="3099435" y="5628005"/>
            <a:ext cx="1478280" cy="1058545"/>
          </a:xfrm>
          <a:prstGeom prst="rect">
            <a:avLst/>
          </a:prstGeom>
          <a:noFill/>
          <a:ln w="9525">
            <a:noFill/>
          </a:ln>
        </p:spPr>
        <p:txBody>
          <a:bodyPr anchor="t">
            <a:spAutoFit/>
          </a:bodyPr>
          <a:p>
            <a:endParaRPr lang="zh-CN" altLang="en-US" dirty="0">
              <a:solidFill>
                <a:schemeClr val="bg1"/>
              </a:solidFill>
              <a:ea typeface="Calibri" panose="020F0502020204030204" pitchFamily="34" charset="0"/>
            </a:endParaRPr>
          </a:p>
        </p:txBody>
      </p:sp>
      <p:sp>
        <p:nvSpPr>
          <p:cNvPr id="2" name="Text Box 1"/>
          <p:cNvSpPr txBox="1"/>
          <p:nvPr/>
        </p:nvSpPr>
        <p:spPr>
          <a:xfrm>
            <a:off x="2160905" y="616585"/>
            <a:ext cx="4822825" cy="460375"/>
          </a:xfrm>
          <a:prstGeom prst="rect">
            <a:avLst/>
          </a:prstGeom>
          <a:solidFill>
            <a:schemeClr val="bg1"/>
          </a:solidFill>
        </p:spPr>
        <p:txBody>
          <a:bodyPr wrap="square" rtlCol="0">
            <a:spAutoFit/>
          </a:bodyPr>
          <a:p>
            <a:pPr algn="ctr"/>
            <a:r>
              <a:rPr lang="en-US" sz="2400" b="1">
                <a:solidFill>
                  <a:schemeClr val="tx2"/>
                </a:solidFill>
              </a:rPr>
              <a:t>RAPHAEL INTERFACE UI</a:t>
            </a:r>
            <a:endParaRPr lang="en-US" sz="2400" b="1">
              <a:solidFill>
                <a:schemeClr val="tx2"/>
              </a:solidFill>
            </a:endParaRPr>
          </a:p>
        </p:txBody>
      </p:sp>
      <p:pic>
        <p:nvPicPr>
          <p:cNvPr id="5" name="Picture 4" descr="Screenshot 2025-05-11 152541"/>
          <p:cNvPicPr>
            <a:picLocks noChangeAspect="1"/>
          </p:cNvPicPr>
          <p:nvPr/>
        </p:nvPicPr>
        <p:blipFill>
          <a:blip r:embed="rId2"/>
          <a:stretch>
            <a:fillRect/>
          </a:stretch>
        </p:blipFill>
        <p:spPr>
          <a:xfrm>
            <a:off x="1485900" y="1463040"/>
            <a:ext cx="6172200" cy="53054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1"/>
          <a:srcRect l="14185" t="24529" r="26515" b="27426"/>
          <a:stretch>
            <a:fillRect/>
          </a:stretch>
        </p:blipFill>
        <p:spPr>
          <a:xfrm>
            <a:off x="0" y="0"/>
            <a:ext cx="9144000" cy="6858000"/>
          </a:xfrm>
          <a:prstGeom prst="rect">
            <a:avLst/>
          </a:prstGeom>
          <a:noFill/>
          <a:ln w="9525">
            <a:noFill/>
          </a:ln>
        </p:spPr>
      </p:pic>
      <p:sp>
        <p:nvSpPr>
          <p:cNvPr id="5125" name="文本框 6"/>
          <p:cNvSpPr txBox="1"/>
          <p:nvPr/>
        </p:nvSpPr>
        <p:spPr>
          <a:xfrm>
            <a:off x="3099435" y="5628005"/>
            <a:ext cx="1478280" cy="1058545"/>
          </a:xfrm>
          <a:prstGeom prst="rect">
            <a:avLst/>
          </a:prstGeom>
          <a:noFill/>
          <a:ln w="9525">
            <a:noFill/>
          </a:ln>
        </p:spPr>
        <p:txBody>
          <a:bodyPr anchor="t">
            <a:spAutoFit/>
          </a:bodyPr>
          <a:p>
            <a:endParaRPr lang="zh-CN" altLang="en-US" dirty="0">
              <a:solidFill>
                <a:schemeClr val="bg1"/>
              </a:solidFill>
              <a:ea typeface="Calibri" panose="020F0502020204030204" pitchFamily="34" charset="0"/>
            </a:endParaRPr>
          </a:p>
        </p:txBody>
      </p:sp>
      <p:sp>
        <p:nvSpPr>
          <p:cNvPr id="2" name="Text Box 1"/>
          <p:cNvSpPr txBox="1"/>
          <p:nvPr/>
        </p:nvSpPr>
        <p:spPr>
          <a:xfrm>
            <a:off x="1832610" y="307975"/>
            <a:ext cx="5478780" cy="706755"/>
          </a:xfrm>
          <a:prstGeom prst="rect">
            <a:avLst/>
          </a:prstGeom>
          <a:solidFill>
            <a:srgbClr val="00B0F0"/>
          </a:solidFill>
        </p:spPr>
        <p:txBody>
          <a:bodyPr wrap="square" rtlCol="0">
            <a:spAutoFit/>
          </a:bodyPr>
          <a:p>
            <a:pPr algn="ctr"/>
            <a:r>
              <a:rPr lang="en-US" sz="4000" b="1">
                <a:solidFill>
                  <a:srgbClr val="7030A0"/>
                </a:solidFill>
              </a:rPr>
              <a:t>CODE HIGHLIGHTS</a:t>
            </a:r>
            <a:endParaRPr lang="en-US" sz="4000" b="1">
              <a:solidFill>
                <a:srgbClr val="7030A0"/>
              </a:solidFill>
            </a:endParaRPr>
          </a:p>
        </p:txBody>
      </p:sp>
      <p:sp>
        <p:nvSpPr>
          <p:cNvPr id="3" name="Text Box 2"/>
          <p:cNvSpPr txBox="1"/>
          <p:nvPr/>
        </p:nvSpPr>
        <p:spPr>
          <a:xfrm>
            <a:off x="481965" y="1257935"/>
            <a:ext cx="7937500" cy="583565"/>
          </a:xfrm>
          <a:prstGeom prst="rect">
            <a:avLst/>
          </a:prstGeom>
          <a:noFill/>
        </p:spPr>
        <p:txBody>
          <a:bodyPr wrap="square" rtlCol="0">
            <a:spAutoFit/>
          </a:bodyPr>
          <a:p>
            <a:r>
              <a:rPr lang="en-US" sz="3200" b="1">
                <a:solidFill>
                  <a:schemeClr val="bg1"/>
                </a:solidFill>
                <a:highlight>
                  <a:srgbClr val="800000"/>
                </a:highlight>
              </a:rPr>
              <a:t>FRONTEND:</a:t>
            </a:r>
            <a:r>
              <a:rPr lang="en-US" sz="3200" b="1">
                <a:solidFill>
                  <a:schemeClr val="bg1"/>
                </a:solidFill>
              </a:rPr>
              <a:t>   </a:t>
            </a:r>
            <a:r>
              <a:rPr lang="en-US" sz="2000" b="1">
                <a:solidFill>
                  <a:schemeClr val="bg1"/>
                </a:solidFill>
                <a:highlight>
                  <a:srgbClr val="008000"/>
                </a:highlight>
              </a:rPr>
              <a:t>HTML , CSS ,JAVASCRIPT , BOOTSTRAP</a:t>
            </a:r>
            <a:endParaRPr lang="en-US" sz="2000" b="1">
              <a:solidFill>
                <a:schemeClr val="bg1"/>
              </a:solidFill>
              <a:highlight>
                <a:srgbClr val="008000"/>
              </a:highlight>
            </a:endParaRPr>
          </a:p>
        </p:txBody>
      </p:sp>
      <p:sp>
        <p:nvSpPr>
          <p:cNvPr id="5" name="Text Box 4"/>
          <p:cNvSpPr txBox="1"/>
          <p:nvPr/>
        </p:nvSpPr>
        <p:spPr>
          <a:xfrm>
            <a:off x="95885" y="2084705"/>
            <a:ext cx="4481195" cy="4465955"/>
          </a:xfrm>
          <a:prstGeom prst="rect">
            <a:avLst/>
          </a:prstGeom>
          <a:solidFill>
            <a:schemeClr val="bg1"/>
          </a:solidFill>
        </p:spPr>
        <p:txBody>
          <a:bodyPr wrap="square" rtlCol="0">
            <a:noAutofit/>
          </a:bodyPr>
          <a:p>
            <a:pPr algn="ctr"/>
            <a:r>
              <a:rPr lang="en-US" sz="2400" b="1">
                <a:solidFill>
                  <a:schemeClr val="tx1"/>
                </a:solidFill>
              </a:rPr>
              <a:t>HTML</a:t>
            </a:r>
            <a:endParaRPr lang="en-US" sz="2400" b="1">
              <a:solidFill>
                <a:schemeClr val="tx1"/>
              </a:solidFill>
            </a:endParaRPr>
          </a:p>
          <a:p>
            <a:pPr algn="l"/>
            <a:r>
              <a:rPr lang="en-US" sz="2400" b="1">
                <a:solidFill>
                  <a:schemeClr val="tx1"/>
                </a:solidFill>
              </a:rPr>
              <a:t>1. </a:t>
            </a:r>
            <a:r>
              <a:rPr lang="en-US" altLang="en-US" sz="2400" b="1">
                <a:solidFill>
                  <a:schemeClr val="tx1"/>
                </a:solidFill>
              </a:rPr>
              <a:t>Created the structural layout </a:t>
            </a:r>
            <a:endParaRPr lang="en-US" altLang="en-US" sz="2400" b="1">
              <a:solidFill>
                <a:schemeClr val="tx1"/>
              </a:solidFill>
            </a:endParaRPr>
          </a:p>
          <a:p>
            <a:pPr algn="l"/>
            <a:r>
              <a:rPr lang="en-US" altLang="en-US" sz="2400" b="1">
                <a:solidFill>
                  <a:schemeClr val="tx1"/>
                </a:solidFill>
              </a:rPr>
              <a:t>     </a:t>
            </a:r>
            <a:r>
              <a:rPr lang="en-US" altLang="en-US" sz="2400" b="1">
                <a:solidFill>
                  <a:schemeClr val="tx1"/>
                </a:solidFill>
                <a:sym typeface="+mn-ea"/>
              </a:rPr>
              <a:t>of the webpage.</a:t>
            </a:r>
            <a:endParaRPr lang="en-US" altLang="en-US" sz="2400" b="1">
              <a:solidFill>
                <a:schemeClr val="tx1"/>
              </a:solidFill>
              <a:sym typeface="+mn-ea"/>
            </a:endParaRPr>
          </a:p>
          <a:p>
            <a:pPr algn="l"/>
            <a:r>
              <a:rPr lang="en-US" altLang="en-US" sz="2400" b="1">
                <a:solidFill>
                  <a:schemeClr val="tx1"/>
                </a:solidFill>
                <a:sym typeface="+mn-ea"/>
              </a:rPr>
              <a:t>2. </a:t>
            </a:r>
            <a:r>
              <a:rPr lang="en-US" altLang="en-US" sz="2400" b="1">
                <a:solidFill>
                  <a:schemeClr val="tx1"/>
                </a:solidFill>
              </a:rPr>
              <a:t>Included important </a:t>
            </a:r>
            <a:endParaRPr lang="en-US" altLang="en-US" sz="2400" b="1">
              <a:solidFill>
                <a:schemeClr val="tx1"/>
              </a:solidFill>
            </a:endParaRPr>
          </a:p>
          <a:p>
            <a:pPr algn="l"/>
            <a:r>
              <a:rPr lang="en-US" altLang="en-US" sz="2400" b="1">
                <a:solidFill>
                  <a:schemeClr val="tx1"/>
                </a:solidFill>
              </a:rPr>
              <a:t>     </a:t>
            </a:r>
            <a:r>
              <a:rPr lang="en-US" altLang="en-US" sz="2400" b="1">
                <a:solidFill>
                  <a:schemeClr val="tx1"/>
                </a:solidFill>
                <a:sym typeface="+mn-ea"/>
              </a:rPr>
              <a:t>components like chat input </a:t>
            </a:r>
            <a:endParaRPr lang="en-US" altLang="en-US" sz="2400" b="1">
              <a:solidFill>
                <a:schemeClr val="tx1"/>
              </a:solidFill>
              <a:sym typeface="+mn-ea"/>
            </a:endParaRPr>
          </a:p>
          <a:p>
            <a:pPr algn="l"/>
            <a:r>
              <a:rPr lang="en-US" altLang="en-US" sz="2400" b="1">
                <a:solidFill>
                  <a:schemeClr val="tx1"/>
                </a:solidFill>
                <a:sym typeface="+mn-ea"/>
              </a:rPr>
              <a:t>     </a:t>
            </a:r>
            <a:r>
              <a:rPr lang="en-US" altLang="en-US" sz="2400" b="1">
                <a:solidFill>
                  <a:schemeClr val="tx1"/>
                </a:solidFill>
                <a:sym typeface="+mn-ea"/>
              </a:rPr>
              <a:t>field, control buttons (mic, </a:t>
            </a:r>
            <a:endParaRPr lang="en-US" altLang="en-US" sz="2400" b="1">
              <a:solidFill>
                <a:schemeClr val="tx1"/>
              </a:solidFill>
              <a:sym typeface="+mn-ea"/>
            </a:endParaRPr>
          </a:p>
          <a:p>
            <a:pPr algn="l"/>
            <a:r>
              <a:rPr lang="en-US" altLang="en-US" sz="2400" b="1">
                <a:solidFill>
                  <a:schemeClr val="tx1"/>
                </a:solidFill>
                <a:sym typeface="+mn-ea"/>
              </a:rPr>
              <a:t>     send, chat, settings),</a:t>
            </a:r>
            <a:endParaRPr lang="en-US" altLang="en-US" sz="2400" b="1">
              <a:solidFill>
                <a:schemeClr val="tx1"/>
              </a:solidFill>
              <a:sym typeface="+mn-ea"/>
            </a:endParaRPr>
          </a:p>
          <a:p>
            <a:pPr algn="l"/>
            <a:r>
              <a:rPr lang="en-US" altLang="en-US" sz="2400" b="1">
                <a:solidFill>
                  <a:schemeClr val="tx1"/>
                </a:solidFill>
                <a:sym typeface="+mn-ea"/>
              </a:rPr>
              <a:t>     Siri wave area.</a:t>
            </a:r>
            <a:endParaRPr lang="en-US" altLang="en-US" sz="2400" b="1">
              <a:solidFill>
                <a:schemeClr val="tx1"/>
              </a:solidFill>
              <a:sym typeface="+mn-ea"/>
            </a:endParaRPr>
          </a:p>
          <a:p>
            <a:pPr algn="l"/>
            <a:r>
              <a:rPr lang="en-US" altLang="en-US" sz="2400" b="1">
                <a:solidFill>
                  <a:schemeClr val="tx1"/>
                </a:solidFill>
                <a:sym typeface="+mn-ea"/>
              </a:rPr>
              <a:t>3. </a:t>
            </a:r>
            <a:r>
              <a:rPr lang="en-US" altLang="en-US" sz="2400" b="1">
                <a:solidFill>
                  <a:schemeClr val="tx1"/>
                </a:solidFill>
              </a:rPr>
              <a:t>Used semantic tags and</a:t>
            </a:r>
            <a:endParaRPr lang="en-US" altLang="en-US" sz="2400" b="1">
              <a:solidFill>
                <a:schemeClr val="tx1"/>
              </a:solidFill>
            </a:endParaRPr>
          </a:p>
          <a:p>
            <a:pPr algn="l"/>
            <a:r>
              <a:rPr lang="en-US" altLang="en-US" sz="2400" b="1">
                <a:solidFill>
                  <a:schemeClr val="tx1"/>
                </a:solidFill>
              </a:rPr>
              <a:t>     </a:t>
            </a:r>
            <a:r>
              <a:rPr lang="en-US" altLang="en-US" sz="2400" b="1">
                <a:solidFill>
                  <a:schemeClr val="tx1"/>
                </a:solidFill>
                <a:sym typeface="+mn-ea"/>
              </a:rPr>
              <a:t>responsive grid with </a:t>
            </a:r>
            <a:endParaRPr lang="en-US" altLang="en-US" sz="2400" b="1">
              <a:solidFill>
                <a:schemeClr val="tx1"/>
              </a:solidFill>
              <a:sym typeface="+mn-ea"/>
            </a:endParaRPr>
          </a:p>
          <a:p>
            <a:pPr algn="l"/>
            <a:r>
              <a:rPr lang="en-US" altLang="en-US" sz="2400" b="1">
                <a:solidFill>
                  <a:schemeClr val="tx1"/>
                </a:solidFill>
                <a:sym typeface="+mn-ea"/>
              </a:rPr>
              <a:t>     </a:t>
            </a:r>
            <a:r>
              <a:rPr lang="en-US" altLang="en-US" sz="2400" b="1">
                <a:solidFill>
                  <a:schemeClr val="tx1"/>
                </a:solidFill>
                <a:sym typeface="+mn-ea"/>
              </a:rPr>
              <a:t>Bootstrap classes for better </a:t>
            </a:r>
            <a:endParaRPr lang="en-US" altLang="en-US" sz="2400" b="1">
              <a:solidFill>
                <a:schemeClr val="tx1"/>
              </a:solidFill>
              <a:sym typeface="+mn-ea"/>
            </a:endParaRPr>
          </a:p>
          <a:p>
            <a:pPr algn="l"/>
            <a:r>
              <a:rPr lang="en-US" altLang="en-US" sz="2400" b="1">
                <a:solidFill>
                  <a:schemeClr val="tx1"/>
                </a:solidFill>
                <a:sym typeface="+mn-ea"/>
              </a:rPr>
              <a:t>     alignment .</a:t>
            </a:r>
            <a:endParaRPr lang="en-US" altLang="en-US" sz="2400" b="1">
              <a:solidFill>
                <a:schemeClr val="tx1"/>
              </a:solidFill>
            </a:endParaRPr>
          </a:p>
          <a:p>
            <a:pPr algn="l"/>
            <a:endParaRPr lang="en-US" altLang="en-US" sz="2400" b="1">
              <a:solidFill>
                <a:schemeClr val="tx1"/>
              </a:solidFill>
            </a:endParaRPr>
          </a:p>
          <a:p>
            <a:pPr algn="l"/>
            <a:endParaRPr lang="en-US" altLang="en-US" sz="2400" b="1">
              <a:solidFill>
                <a:schemeClr val="tx1"/>
              </a:solidFill>
            </a:endParaRPr>
          </a:p>
          <a:p>
            <a:pPr algn="l"/>
            <a:endParaRPr lang="en-US" altLang="en-US" sz="2400" b="1">
              <a:solidFill>
                <a:schemeClr val="tx1"/>
              </a:solidFill>
            </a:endParaRPr>
          </a:p>
          <a:p>
            <a:pPr algn="l"/>
            <a:endParaRPr lang="en-US" altLang="en-US" sz="2400" b="1">
              <a:solidFill>
                <a:schemeClr val="tx1"/>
              </a:solidFill>
            </a:endParaRPr>
          </a:p>
          <a:p>
            <a:pPr algn="l"/>
            <a:endParaRPr lang="en-US" altLang="en-US" sz="2400" b="1">
              <a:solidFill>
                <a:schemeClr val="tx1"/>
              </a:solidFill>
            </a:endParaRPr>
          </a:p>
          <a:p>
            <a:pPr algn="l"/>
            <a:endParaRPr lang="en-US" altLang="en-US" sz="2400" b="1">
              <a:solidFill>
                <a:schemeClr val="tx1"/>
              </a:solidFill>
            </a:endParaRPr>
          </a:p>
        </p:txBody>
      </p:sp>
      <p:sp>
        <p:nvSpPr>
          <p:cNvPr id="6" name="Text Box 5"/>
          <p:cNvSpPr txBox="1"/>
          <p:nvPr/>
        </p:nvSpPr>
        <p:spPr>
          <a:xfrm>
            <a:off x="4653280" y="2084705"/>
            <a:ext cx="4394200" cy="4465955"/>
          </a:xfrm>
          <a:prstGeom prst="rect">
            <a:avLst/>
          </a:prstGeom>
          <a:solidFill>
            <a:schemeClr val="bg1"/>
          </a:solidFill>
        </p:spPr>
        <p:txBody>
          <a:bodyPr wrap="square" rtlCol="0">
            <a:noAutofit/>
          </a:bodyPr>
          <a:p>
            <a:pPr algn="ctr"/>
            <a:r>
              <a:rPr lang="en-US" sz="2400" b="1">
                <a:solidFill>
                  <a:schemeClr val="tx1"/>
                </a:solidFill>
              </a:rPr>
              <a:t>CSS</a:t>
            </a:r>
            <a:endParaRPr lang="en-US" sz="2400" b="1">
              <a:solidFill>
                <a:schemeClr val="tx1"/>
              </a:solidFill>
            </a:endParaRPr>
          </a:p>
          <a:p>
            <a:pPr algn="l"/>
            <a:r>
              <a:rPr lang="en-US" sz="2400" b="1">
                <a:solidFill>
                  <a:schemeClr val="tx1"/>
                </a:solidFill>
              </a:rPr>
              <a:t>1. </a:t>
            </a:r>
            <a:r>
              <a:rPr lang="en-US" altLang="en-US" sz="2400" b="1">
                <a:solidFill>
                  <a:schemeClr val="tx1"/>
                </a:solidFill>
                <a:sym typeface="+mn-ea"/>
              </a:rPr>
              <a:t>Customized design using </a:t>
            </a:r>
            <a:endParaRPr lang="en-US" altLang="en-US" sz="2400" b="1">
              <a:solidFill>
                <a:schemeClr val="tx1"/>
              </a:solidFill>
              <a:sym typeface="+mn-ea"/>
            </a:endParaRPr>
          </a:p>
          <a:p>
            <a:pPr algn="l"/>
            <a:r>
              <a:rPr lang="en-US" altLang="en-US" sz="2400" b="1">
                <a:solidFill>
                  <a:schemeClr val="tx1"/>
                </a:solidFill>
                <a:sym typeface="+mn-ea"/>
              </a:rPr>
              <a:t>     </a:t>
            </a:r>
            <a:r>
              <a:rPr lang="en-US" altLang="en-US" sz="2400" b="1">
                <a:sym typeface="+mn-ea"/>
              </a:rPr>
              <a:t>gradients, shadows, rounded </a:t>
            </a:r>
            <a:endParaRPr lang="en-US" altLang="en-US" sz="2400" b="1">
              <a:sym typeface="+mn-ea"/>
            </a:endParaRPr>
          </a:p>
          <a:p>
            <a:pPr algn="l"/>
            <a:r>
              <a:rPr lang="en-US" altLang="en-US" sz="2400" b="1">
                <a:sym typeface="+mn-ea"/>
              </a:rPr>
              <a:t>     shapes, and hover effects.</a:t>
            </a:r>
            <a:endParaRPr lang="en-US" altLang="en-US" sz="2400" b="1">
              <a:sym typeface="+mn-ea"/>
            </a:endParaRPr>
          </a:p>
          <a:p>
            <a:pPr algn="l"/>
            <a:r>
              <a:rPr lang="en-US" altLang="en-US" sz="2400" b="1">
                <a:sym typeface="+mn-ea"/>
              </a:rPr>
              <a:t>2. </a:t>
            </a:r>
            <a:r>
              <a:rPr lang="en-US" altLang="en-US" sz="2400" b="1">
                <a:solidFill>
                  <a:schemeClr val="tx1"/>
                </a:solidFill>
                <a:sym typeface="+mn-ea"/>
              </a:rPr>
              <a:t>Added animations to enhance </a:t>
            </a:r>
            <a:endParaRPr lang="en-US" altLang="en-US" sz="2400" b="1">
              <a:solidFill>
                <a:schemeClr val="tx1"/>
              </a:solidFill>
              <a:sym typeface="+mn-ea"/>
            </a:endParaRPr>
          </a:p>
          <a:p>
            <a:pPr algn="l"/>
            <a:r>
              <a:rPr lang="en-US" altLang="en-US" sz="2400" b="1">
                <a:solidFill>
                  <a:schemeClr val="tx1"/>
                </a:solidFill>
                <a:sym typeface="+mn-ea"/>
              </a:rPr>
              <a:t>    </a:t>
            </a:r>
            <a:r>
              <a:rPr lang="en-US" altLang="en-US" sz="2400" b="1">
                <a:sym typeface="+mn-ea"/>
              </a:rPr>
              <a:t>user interaction (e.g., glowing </a:t>
            </a:r>
            <a:endParaRPr lang="en-US" altLang="en-US" sz="2400" b="1">
              <a:sym typeface="+mn-ea"/>
            </a:endParaRPr>
          </a:p>
          <a:p>
            <a:pPr algn="l"/>
            <a:r>
              <a:rPr lang="en-US" altLang="en-US" sz="2400" b="1">
                <a:sym typeface="+mn-ea"/>
              </a:rPr>
              <a:t>    mic button, animated </a:t>
            </a:r>
            <a:endParaRPr lang="en-US" altLang="en-US" sz="2400" b="1">
              <a:sym typeface="+mn-ea"/>
            </a:endParaRPr>
          </a:p>
          <a:p>
            <a:pPr algn="l"/>
            <a:r>
              <a:rPr lang="en-US" altLang="en-US" sz="2400" b="1">
                <a:sym typeface="+mn-ea"/>
              </a:rPr>
              <a:t>    Siri wave background).</a:t>
            </a:r>
            <a:endParaRPr lang="en-US" altLang="en-US" sz="2400" b="1">
              <a:sym typeface="+mn-ea"/>
            </a:endParaRPr>
          </a:p>
          <a:p>
            <a:pPr algn="l"/>
            <a:r>
              <a:rPr lang="en-US" altLang="en-US" sz="2400" b="1">
                <a:sym typeface="+mn-ea"/>
              </a:rPr>
              <a:t>3. </a:t>
            </a:r>
            <a:r>
              <a:rPr lang="en-US" altLang="en-US" sz="2400" b="1">
                <a:solidFill>
                  <a:schemeClr val="tx1"/>
                </a:solidFill>
                <a:sym typeface="+mn-ea"/>
              </a:rPr>
              <a:t>Managed layout spacing and </a:t>
            </a:r>
            <a:endParaRPr lang="en-US" altLang="en-US" sz="2400" b="1">
              <a:solidFill>
                <a:schemeClr val="tx1"/>
              </a:solidFill>
              <a:sym typeface="+mn-ea"/>
            </a:endParaRPr>
          </a:p>
          <a:p>
            <a:pPr algn="l"/>
            <a:r>
              <a:rPr lang="en-US" altLang="en-US" sz="2400" b="1">
                <a:solidFill>
                  <a:schemeClr val="tx1"/>
                </a:solidFill>
                <a:sym typeface="+mn-ea"/>
              </a:rPr>
              <a:t>     </a:t>
            </a:r>
            <a:r>
              <a:rPr lang="en-US" altLang="en-US" sz="2400" b="1">
                <a:sym typeface="+mn-ea"/>
              </a:rPr>
              <a:t>colors to match a dark </a:t>
            </a:r>
            <a:endParaRPr lang="en-US" altLang="en-US" sz="2400" b="1">
              <a:sym typeface="+mn-ea"/>
            </a:endParaRPr>
          </a:p>
          <a:p>
            <a:pPr algn="l"/>
            <a:r>
              <a:rPr lang="en-US" altLang="en-US" sz="2400" b="1">
                <a:sym typeface="+mn-ea"/>
              </a:rPr>
              <a:t>     futuristic theme.</a:t>
            </a:r>
            <a:endParaRPr lang="en-US" altLang="en-US" sz="2400" b="1">
              <a:solidFill>
                <a:schemeClr val="tx1"/>
              </a:solidFill>
              <a:sym typeface="+mn-ea"/>
            </a:endParaRPr>
          </a:p>
          <a:p>
            <a:pPr algn="l"/>
            <a:endParaRPr lang="en-US" altLang="en-US" sz="2400" b="1">
              <a:solidFill>
                <a:schemeClr val="tx1"/>
              </a:solidFill>
              <a:sym typeface="+mn-ea"/>
            </a:endParaRPr>
          </a:p>
          <a:p>
            <a:pPr algn="l"/>
            <a:endParaRPr lang="en-US" altLang="en-US" sz="2400" b="1">
              <a:solidFill>
                <a:schemeClr val="tx1"/>
              </a:solidFill>
              <a:sym typeface="+mn-ea"/>
            </a:endParaRPr>
          </a:p>
          <a:p>
            <a:pPr algn="l"/>
            <a:endParaRPr lang="en-US" altLang="en-US" sz="2400" b="1">
              <a:solidFill>
                <a:schemeClr val="tx1"/>
              </a:solidFill>
              <a:sym typeface="+mn-ea"/>
            </a:endParaRPr>
          </a:p>
          <a:p>
            <a:pPr algn="l"/>
            <a:endParaRPr lang="en-US" altLang="en-US" sz="2400" b="1">
              <a:solidFill>
                <a:schemeClr val="tx1"/>
              </a:solidFill>
              <a:sym typeface="+mn-ea"/>
            </a:endParaRPr>
          </a:p>
          <a:p>
            <a:pPr algn="l"/>
            <a:r>
              <a:rPr lang="en-US" altLang="en-US" sz="2400" b="1">
                <a:solidFill>
                  <a:schemeClr val="tx1"/>
                </a:solidFill>
                <a:sym typeface="+mn-ea"/>
              </a:rPr>
              <a:t> </a:t>
            </a:r>
            <a:endParaRPr lang="en-US" altLang="en-US" sz="2400" b="1">
              <a:solidFill>
                <a:schemeClr val="tx1"/>
              </a:solidFill>
            </a:endParaRPr>
          </a:p>
          <a:p>
            <a:pPr algn="l"/>
            <a:endParaRPr lang="en-US" altLang="en-US" sz="2400" b="1">
              <a:solidFill>
                <a:schemeClr val="tx1"/>
              </a:solidFill>
            </a:endParaRPr>
          </a:p>
          <a:p>
            <a:pPr algn="l"/>
            <a:endParaRPr lang="en-US" altLang="en-US" sz="2400" b="1">
              <a:solidFill>
                <a:schemeClr val="tx1"/>
              </a:solidFill>
            </a:endParaRPr>
          </a:p>
          <a:p>
            <a:pPr algn="l"/>
            <a:endParaRPr lang="en-US" altLang="en-US" sz="2400" b="1">
              <a:solidFill>
                <a:schemeClr val="tx1"/>
              </a:solidFill>
            </a:endParaRPr>
          </a:p>
          <a:p>
            <a:pPr algn="l"/>
            <a:endParaRPr lang="en-US" altLang="en-US" sz="2400" b="1">
              <a:solidFill>
                <a:schemeClr val="tx1"/>
              </a:solidFill>
            </a:endParaRPr>
          </a:p>
          <a:p>
            <a:pPr algn="l"/>
            <a:endParaRPr lang="en-US" altLang="en-US" sz="2400" b="1">
              <a:solidFill>
                <a:schemeClr val="tx1"/>
              </a:solidFill>
            </a:endParaRPr>
          </a:p>
          <a:p>
            <a:pPr algn="l"/>
            <a:endParaRPr lang="en-US" altLang="en-US" sz="2400" b="1">
              <a:solidFill>
                <a:schemeClr val="tx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1"/>
          <a:srcRect l="14185" t="24529" r="26515" b="27426"/>
          <a:stretch>
            <a:fillRect/>
          </a:stretch>
        </p:blipFill>
        <p:spPr>
          <a:xfrm>
            <a:off x="0" y="0"/>
            <a:ext cx="9144000" cy="6768465"/>
          </a:xfrm>
          <a:prstGeom prst="rect">
            <a:avLst/>
          </a:prstGeom>
          <a:noFill/>
          <a:ln w="9525">
            <a:noFill/>
          </a:ln>
        </p:spPr>
      </p:pic>
      <p:sp>
        <p:nvSpPr>
          <p:cNvPr id="5125" name="文本框 6"/>
          <p:cNvSpPr txBox="1"/>
          <p:nvPr/>
        </p:nvSpPr>
        <p:spPr>
          <a:xfrm>
            <a:off x="3099435" y="5628005"/>
            <a:ext cx="1478280" cy="1058545"/>
          </a:xfrm>
          <a:prstGeom prst="rect">
            <a:avLst/>
          </a:prstGeom>
          <a:noFill/>
          <a:ln w="9525">
            <a:noFill/>
          </a:ln>
        </p:spPr>
        <p:txBody>
          <a:bodyPr anchor="t">
            <a:spAutoFit/>
          </a:bodyPr>
          <a:p>
            <a:endParaRPr lang="zh-CN" altLang="en-US" dirty="0">
              <a:solidFill>
                <a:schemeClr val="bg1"/>
              </a:solidFill>
              <a:ea typeface="Calibri" panose="020F0502020204030204" pitchFamily="34" charset="0"/>
            </a:endParaRPr>
          </a:p>
        </p:txBody>
      </p:sp>
      <p:sp>
        <p:nvSpPr>
          <p:cNvPr id="5" name="Text Box 4"/>
          <p:cNvSpPr txBox="1"/>
          <p:nvPr/>
        </p:nvSpPr>
        <p:spPr>
          <a:xfrm>
            <a:off x="95885" y="929005"/>
            <a:ext cx="4394835" cy="5276215"/>
          </a:xfrm>
          <a:prstGeom prst="rect">
            <a:avLst/>
          </a:prstGeom>
          <a:solidFill>
            <a:schemeClr val="bg1"/>
          </a:solidFill>
        </p:spPr>
        <p:txBody>
          <a:bodyPr wrap="square" rtlCol="0">
            <a:noAutofit/>
          </a:bodyPr>
          <a:p>
            <a:pPr algn="ctr"/>
            <a:r>
              <a:rPr lang="en-US" sz="2400" b="1">
                <a:solidFill>
                  <a:schemeClr val="tx1"/>
                </a:solidFill>
              </a:rPr>
              <a:t>Bootstrap</a:t>
            </a:r>
            <a:endParaRPr lang="en-US" sz="2400" b="1">
              <a:solidFill>
                <a:schemeClr val="tx1"/>
              </a:solidFill>
            </a:endParaRPr>
          </a:p>
          <a:p>
            <a:pPr algn="ctr"/>
            <a:endParaRPr lang="en-US" sz="2400" b="1">
              <a:solidFill>
                <a:schemeClr val="tx1"/>
              </a:solidFill>
            </a:endParaRPr>
          </a:p>
          <a:p>
            <a:pPr algn="l"/>
            <a:r>
              <a:rPr lang="en-US" sz="2400" b="1">
                <a:solidFill>
                  <a:schemeClr val="tx1"/>
                </a:solidFill>
              </a:rPr>
              <a:t>1. </a:t>
            </a:r>
            <a:r>
              <a:rPr lang="en-US" altLang="en-US" sz="2400" b="1">
                <a:solidFill>
                  <a:schemeClr val="tx1"/>
                </a:solidFill>
              </a:rPr>
              <a:t>Enabled responsive design for </a:t>
            </a:r>
            <a:endParaRPr lang="en-US" altLang="en-US" sz="2400" b="1">
              <a:solidFill>
                <a:schemeClr val="tx1"/>
              </a:solidFill>
            </a:endParaRPr>
          </a:p>
          <a:p>
            <a:pPr algn="l"/>
            <a:r>
              <a:rPr lang="en-US" altLang="en-US" sz="2400" b="1">
                <a:solidFill>
                  <a:schemeClr val="tx1"/>
                </a:solidFill>
              </a:rPr>
              <a:t>     </a:t>
            </a:r>
            <a:r>
              <a:rPr lang="en-US" altLang="en-US" sz="2400" b="1">
                <a:sym typeface="+mn-ea"/>
              </a:rPr>
              <a:t>all screen sizes.</a:t>
            </a:r>
            <a:endParaRPr lang="en-US" altLang="en-US" sz="2400" b="1">
              <a:sym typeface="+mn-ea"/>
            </a:endParaRPr>
          </a:p>
          <a:p>
            <a:pPr algn="l"/>
            <a:r>
              <a:rPr lang="en-US" altLang="en-US" sz="2400" b="1">
                <a:sym typeface="+mn-ea"/>
              </a:rPr>
              <a:t>2. </a:t>
            </a:r>
            <a:r>
              <a:rPr lang="en-US" altLang="en-US" sz="2400" b="1">
                <a:solidFill>
                  <a:schemeClr val="tx1"/>
                </a:solidFill>
              </a:rPr>
              <a:t>Used Bootstrap grid system for </a:t>
            </a:r>
            <a:endParaRPr lang="en-US" altLang="en-US" sz="2400" b="1">
              <a:solidFill>
                <a:schemeClr val="tx1"/>
              </a:solidFill>
            </a:endParaRPr>
          </a:p>
          <a:p>
            <a:pPr algn="l"/>
            <a:r>
              <a:rPr lang="en-US" altLang="en-US" sz="2400" b="1">
                <a:solidFill>
                  <a:schemeClr val="tx1"/>
                </a:solidFill>
              </a:rPr>
              <a:t>     </a:t>
            </a:r>
            <a:r>
              <a:rPr lang="en-US" altLang="en-US" sz="2400" b="1">
                <a:sym typeface="+mn-ea"/>
              </a:rPr>
              <a:t>aligning elements.</a:t>
            </a:r>
            <a:endParaRPr lang="en-US" altLang="en-US" sz="2400" b="1">
              <a:sym typeface="+mn-ea"/>
            </a:endParaRPr>
          </a:p>
          <a:p>
            <a:pPr algn="l"/>
            <a:r>
              <a:rPr lang="en-US" altLang="en-US" sz="2400" b="1">
                <a:sym typeface="+mn-ea"/>
              </a:rPr>
              <a:t>3. </a:t>
            </a:r>
            <a:r>
              <a:rPr lang="en-US" altLang="en-US" sz="2400" b="1">
                <a:solidFill>
                  <a:schemeClr val="tx1"/>
                </a:solidFill>
              </a:rPr>
              <a:t>Integrated Bootstrap Icons for </a:t>
            </a:r>
            <a:endParaRPr lang="en-US" altLang="en-US" sz="2400" b="1">
              <a:solidFill>
                <a:schemeClr val="tx1"/>
              </a:solidFill>
            </a:endParaRPr>
          </a:p>
          <a:p>
            <a:pPr algn="l"/>
            <a:r>
              <a:rPr lang="en-US" altLang="en-US" sz="2400" b="1">
                <a:solidFill>
                  <a:schemeClr val="tx1"/>
                </a:solidFill>
              </a:rPr>
              <a:t>     </a:t>
            </a:r>
            <a:r>
              <a:rPr lang="en-US" altLang="en-US" sz="2400" b="1">
                <a:sym typeface="+mn-ea"/>
              </a:rPr>
              <a:t>intuitive UI controls (like mic, </a:t>
            </a:r>
            <a:endParaRPr lang="en-US" altLang="en-US" sz="2400" b="1">
              <a:sym typeface="+mn-ea"/>
            </a:endParaRPr>
          </a:p>
          <a:p>
            <a:pPr algn="l"/>
            <a:r>
              <a:rPr lang="en-US" altLang="en-US" sz="2400" b="1">
                <a:sym typeface="+mn-ea"/>
              </a:rPr>
              <a:t>     </a:t>
            </a:r>
            <a:r>
              <a:rPr lang="en-US" altLang="en-US" sz="2400" b="1">
                <a:sym typeface="+mn-ea"/>
              </a:rPr>
              <a:t>chat, gear icons).</a:t>
            </a:r>
            <a:endParaRPr lang="en-US" altLang="en-US" sz="2400" b="1">
              <a:sym typeface="+mn-ea"/>
            </a:endParaRPr>
          </a:p>
          <a:p>
            <a:pPr algn="l"/>
            <a:r>
              <a:rPr lang="en-US" altLang="en-US" sz="2400" b="1">
                <a:sym typeface="+mn-ea"/>
              </a:rPr>
              <a:t>4. </a:t>
            </a:r>
            <a:r>
              <a:rPr lang="en-US" altLang="en-US" sz="2400" b="1">
                <a:solidFill>
                  <a:schemeClr val="tx1"/>
                </a:solidFill>
              </a:rPr>
              <a:t>Implemented offcanvas</a:t>
            </a:r>
            <a:endParaRPr lang="en-US" altLang="en-US" sz="2400" b="1">
              <a:solidFill>
                <a:schemeClr val="tx1"/>
              </a:solidFill>
            </a:endParaRPr>
          </a:p>
          <a:p>
            <a:pPr algn="l"/>
            <a:r>
              <a:rPr lang="en-US" altLang="en-US" sz="2400" b="1">
                <a:solidFill>
                  <a:schemeClr val="tx1"/>
                </a:solidFill>
              </a:rPr>
              <a:t>     </a:t>
            </a:r>
            <a:r>
              <a:rPr lang="en-US" altLang="en-US" sz="2400" b="1">
                <a:sym typeface="+mn-ea"/>
              </a:rPr>
              <a:t>sidebar </a:t>
            </a:r>
            <a:r>
              <a:rPr lang="en-US" altLang="en-US" sz="2400" b="1">
                <a:sym typeface="+mn-ea"/>
              </a:rPr>
              <a:t>for chat history </a:t>
            </a:r>
            <a:endParaRPr lang="en-US" altLang="en-US" sz="2400" b="1">
              <a:sym typeface="+mn-ea"/>
            </a:endParaRPr>
          </a:p>
          <a:p>
            <a:pPr algn="l"/>
            <a:r>
              <a:rPr lang="en-US" altLang="en-US" sz="2400" b="1">
                <a:sym typeface="+mn-ea"/>
              </a:rPr>
              <a:t>     display.</a:t>
            </a:r>
            <a:r>
              <a:rPr lang="en-US" altLang="en-US" sz="2400" b="1">
                <a:sym typeface="+mn-ea"/>
              </a:rPr>
              <a:t>  </a:t>
            </a:r>
            <a:endParaRPr lang="en-US" altLang="en-US" sz="2400" b="1">
              <a:solidFill>
                <a:schemeClr val="tx1"/>
              </a:solidFill>
            </a:endParaRPr>
          </a:p>
          <a:p>
            <a:pPr algn="l"/>
            <a:r>
              <a:rPr lang="en-US" altLang="en-US" sz="2400" b="1">
                <a:solidFill>
                  <a:schemeClr val="tx1"/>
                </a:solidFill>
              </a:rPr>
              <a:t>     </a:t>
            </a:r>
            <a:endParaRPr lang="en-US" altLang="en-US" sz="2400" b="1">
              <a:solidFill>
                <a:schemeClr val="tx1"/>
              </a:solidFill>
            </a:endParaRPr>
          </a:p>
          <a:p>
            <a:pPr algn="l"/>
            <a:endParaRPr lang="en-US" altLang="en-US" sz="2400" b="1">
              <a:solidFill>
                <a:schemeClr val="tx1"/>
              </a:solidFill>
            </a:endParaRPr>
          </a:p>
          <a:p>
            <a:pPr algn="l"/>
            <a:endParaRPr lang="en-US" altLang="en-US" sz="2400" b="1">
              <a:solidFill>
                <a:schemeClr val="tx1"/>
              </a:solidFill>
            </a:endParaRPr>
          </a:p>
          <a:p>
            <a:pPr algn="l"/>
            <a:endParaRPr lang="en-US" altLang="en-US" sz="2400" b="1">
              <a:solidFill>
                <a:schemeClr val="tx1"/>
              </a:solidFill>
            </a:endParaRPr>
          </a:p>
          <a:p>
            <a:pPr algn="l"/>
            <a:endParaRPr lang="en-US" altLang="en-US" sz="2400" b="1">
              <a:solidFill>
                <a:schemeClr val="tx1"/>
              </a:solidFill>
            </a:endParaRPr>
          </a:p>
          <a:p>
            <a:pPr algn="l"/>
            <a:endParaRPr lang="en-US" altLang="en-US" sz="2400" b="1">
              <a:solidFill>
                <a:schemeClr val="tx1"/>
              </a:solidFill>
            </a:endParaRPr>
          </a:p>
          <a:p>
            <a:pPr algn="l"/>
            <a:endParaRPr lang="en-US" altLang="en-US" sz="2400" b="1">
              <a:solidFill>
                <a:schemeClr val="tx1"/>
              </a:solidFill>
            </a:endParaRPr>
          </a:p>
          <a:p>
            <a:pPr algn="l"/>
            <a:endParaRPr lang="en-US" altLang="en-US" sz="2400" b="1">
              <a:solidFill>
                <a:schemeClr val="tx1"/>
              </a:solidFill>
            </a:endParaRPr>
          </a:p>
          <a:p>
            <a:pPr algn="l"/>
            <a:endParaRPr lang="en-US" altLang="en-US" sz="2400" b="1">
              <a:solidFill>
                <a:schemeClr val="tx1"/>
              </a:solidFill>
            </a:endParaRPr>
          </a:p>
          <a:p>
            <a:pPr algn="l"/>
            <a:endParaRPr lang="en-US" altLang="en-US" sz="2400" b="1">
              <a:solidFill>
                <a:schemeClr val="tx1"/>
              </a:solidFill>
            </a:endParaRPr>
          </a:p>
          <a:p>
            <a:pPr algn="l"/>
            <a:endParaRPr lang="en-US" altLang="en-US" sz="2400" b="1">
              <a:solidFill>
                <a:schemeClr val="tx1"/>
              </a:solidFill>
            </a:endParaRPr>
          </a:p>
          <a:p>
            <a:pPr algn="l"/>
            <a:endParaRPr lang="en-US" altLang="en-US" sz="2400" b="1">
              <a:solidFill>
                <a:schemeClr val="tx1"/>
              </a:solidFill>
            </a:endParaRPr>
          </a:p>
          <a:p>
            <a:pPr algn="l"/>
            <a:endParaRPr lang="en-US" altLang="en-US" sz="2400" b="1">
              <a:solidFill>
                <a:schemeClr val="tx1"/>
              </a:solidFill>
            </a:endParaRPr>
          </a:p>
          <a:p>
            <a:pPr algn="l"/>
            <a:endParaRPr lang="en-US" altLang="en-US" sz="2400" b="1">
              <a:solidFill>
                <a:schemeClr val="tx1"/>
              </a:solidFill>
            </a:endParaRPr>
          </a:p>
        </p:txBody>
      </p:sp>
      <p:sp>
        <p:nvSpPr>
          <p:cNvPr id="2" name="Text Box 1"/>
          <p:cNvSpPr txBox="1"/>
          <p:nvPr/>
        </p:nvSpPr>
        <p:spPr>
          <a:xfrm>
            <a:off x="4577715" y="927735"/>
            <a:ext cx="4490720" cy="5277485"/>
          </a:xfrm>
          <a:prstGeom prst="rect">
            <a:avLst/>
          </a:prstGeom>
          <a:solidFill>
            <a:schemeClr val="bg1"/>
          </a:solidFill>
        </p:spPr>
        <p:txBody>
          <a:bodyPr wrap="square" rtlCol="0">
            <a:noAutofit/>
          </a:bodyPr>
          <a:p>
            <a:pPr algn="ctr"/>
            <a:r>
              <a:rPr lang="en-US" sz="2400" b="1">
                <a:solidFill>
                  <a:schemeClr val="tx1"/>
                </a:solidFill>
              </a:rPr>
              <a:t>JavaScript</a:t>
            </a:r>
            <a:endParaRPr lang="en-US" sz="2400" b="1">
              <a:solidFill>
                <a:schemeClr val="tx1"/>
              </a:solidFill>
            </a:endParaRPr>
          </a:p>
          <a:p>
            <a:pPr algn="ctr"/>
            <a:endParaRPr lang="en-US" sz="2400" b="1">
              <a:solidFill>
                <a:schemeClr val="tx1"/>
              </a:solidFill>
            </a:endParaRPr>
          </a:p>
          <a:p>
            <a:pPr algn="l"/>
            <a:r>
              <a:rPr lang="en-US" sz="2400" b="1">
                <a:solidFill>
                  <a:schemeClr val="tx1"/>
                </a:solidFill>
              </a:rPr>
              <a:t>1. </a:t>
            </a:r>
            <a:r>
              <a:rPr lang="en-US" altLang="en-US" sz="2400" b="1">
                <a:solidFill>
                  <a:schemeClr val="tx1"/>
                </a:solidFill>
              </a:rPr>
              <a:t>Controlled interactivity like </a:t>
            </a:r>
            <a:endParaRPr lang="en-US" altLang="en-US" sz="2400" b="1">
              <a:solidFill>
                <a:schemeClr val="tx1"/>
              </a:solidFill>
            </a:endParaRPr>
          </a:p>
          <a:p>
            <a:pPr algn="l"/>
            <a:r>
              <a:rPr lang="en-US" altLang="en-US" sz="2400" b="1">
                <a:solidFill>
                  <a:schemeClr val="tx1"/>
                </a:solidFill>
              </a:rPr>
              <a:t>     </a:t>
            </a:r>
            <a:r>
              <a:rPr lang="en-US" altLang="en-US" sz="2400" b="1">
                <a:sym typeface="+mn-ea"/>
              </a:rPr>
              <a:t>button clicks and speech </a:t>
            </a:r>
            <a:endParaRPr lang="en-US" altLang="en-US" sz="2400" b="1">
              <a:sym typeface="+mn-ea"/>
            </a:endParaRPr>
          </a:p>
          <a:p>
            <a:pPr algn="l"/>
            <a:r>
              <a:rPr lang="en-US" altLang="en-US" sz="2400" b="1">
                <a:sym typeface="+mn-ea"/>
              </a:rPr>
              <a:t>     </a:t>
            </a:r>
            <a:r>
              <a:rPr lang="en-US" altLang="en-US" sz="2400" b="1">
                <a:sym typeface="+mn-ea"/>
              </a:rPr>
              <a:t>handling.</a:t>
            </a:r>
            <a:endParaRPr lang="en-US" altLang="en-US" sz="2400" b="1">
              <a:sym typeface="+mn-ea"/>
            </a:endParaRPr>
          </a:p>
          <a:p>
            <a:pPr algn="l"/>
            <a:r>
              <a:rPr lang="en-US" altLang="en-US" sz="2400" b="1">
                <a:sym typeface="+mn-ea"/>
              </a:rPr>
              <a:t>2. </a:t>
            </a:r>
            <a:r>
              <a:rPr lang="en-US" altLang="en-US" sz="2400" b="1">
                <a:solidFill>
                  <a:schemeClr val="tx1"/>
                </a:solidFill>
              </a:rPr>
              <a:t>Integrated siriwave.js to </a:t>
            </a:r>
            <a:endParaRPr lang="en-US" altLang="en-US" sz="2400" b="1">
              <a:solidFill>
                <a:schemeClr val="tx1"/>
              </a:solidFill>
            </a:endParaRPr>
          </a:p>
          <a:p>
            <a:pPr algn="l"/>
            <a:r>
              <a:rPr lang="en-US" altLang="en-US" sz="2400" b="1">
                <a:solidFill>
                  <a:schemeClr val="tx1"/>
                </a:solidFill>
              </a:rPr>
              <a:t>     </a:t>
            </a:r>
            <a:r>
              <a:rPr lang="en-US" altLang="en-US" sz="2400" b="1">
                <a:sym typeface="+mn-ea"/>
              </a:rPr>
              <a:t>visually display voice </a:t>
            </a:r>
            <a:endParaRPr lang="en-US" altLang="en-US" sz="2400" b="1">
              <a:sym typeface="+mn-ea"/>
            </a:endParaRPr>
          </a:p>
          <a:p>
            <a:pPr algn="l"/>
            <a:r>
              <a:rPr lang="en-US" altLang="en-US" sz="2400" b="1">
                <a:sym typeface="+mn-ea"/>
              </a:rPr>
              <a:t>      </a:t>
            </a:r>
            <a:r>
              <a:rPr lang="en-US" altLang="en-US" sz="2400" b="1">
                <a:sym typeface="+mn-ea"/>
              </a:rPr>
              <a:t>recognition activity.</a:t>
            </a:r>
            <a:endParaRPr lang="en-US" altLang="en-US" sz="2400" b="1">
              <a:sym typeface="+mn-ea"/>
            </a:endParaRPr>
          </a:p>
          <a:p>
            <a:pPr algn="l"/>
            <a:r>
              <a:rPr lang="en-US" altLang="en-US" sz="2400" b="1">
                <a:sym typeface="+mn-ea"/>
              </a:rPr>
              <a:t>3. </a:t>
            </a:r>
            <a:r>
              <a:rPr lang="en-US" altLang="en-US" sz="2400" b="1">
                <a:solidFill>
                  <a:schemeClr val="tx1"/>
                </a:solidFill>
              </a:rPr>
              <a:t>Used jQuery plugins </a:t>
            </a:r>
            <a:endParaRPr lang="en-US" altLang="en-US" sz="2400" b="1">
              <a:solidFill>
                <a:schemeClr val="tx1"/>
              </a:solidFill>
            </a:endParaRPr>
          </a:p>
          <a:p>
            <a:pPr algn="l"/>
            <a:r>
              <a:rPr lang="en-US" altLang="en-US" sz="2400" b="1">
                <a:solidFill>
                  <a:schemeClr val="tx1"/>
                </a:solidFill>
              </a:rPr>
              <a:t>     </a:t>
            </a:r>
            <a:r>
              <a:rPr lang="en-US" altLang="en-US" sz="2400" b="1">
                <a:sym typeface="+mn-ea"/>
              </a:rPr>
              <a:t>(textillate.js, lettering.js) for </a:t>
            </a:r>
            <a:endParaRPr lang="en-US" altLang="en-US" sz="2400" b="1">
              <a:sym typeface="+mn-ea"/>
            </a:endParaRPr>
          </a:p>
          <a:p>
            <a:pPr algn="l"/>
            <a:r>
              <a:rPr lang="en-US" altLang="en-US" sz="2400" b="1">
                <a:sym typeface="+mn-ea"/>
              </a:rPr>
              <a:t>      </a:t>
            </a:r>
            <a:r>
              <a:rPr lang="en-US" altLang="en-US" sz="2400" b="1">
                <a:sym typeface="+mn-ea"/>
              </a:rPr>
              <a:t>animated text headings.</a:t>
            </a:r>
            <a:endParaRPr lang="en-US" altLang="en-US" sz="2400" b="1">
              <a:sym typeface="+mn-ea"/>
            </a:endParaRPr>
          </a:p>
          <a:p>
            <a:pPr algn="l"/>
            <a:r>
              <a:rPr lang="en-US" altLang="en-US" sz="2400" b="1">
                <a:sym typeface="+mn-ea"/>
              </a:rPr>
              <a:t>4. </a:t>
            </a:r>
            <a:r>
              <a:rPr lang="en-US" altLang="en-US" sz="2400" b="1">
                <a:solidFill>
                  <a:schemeClr val="tx1"/>
                </a:solidFill>
              </a:rPr>
              <a:t>Connected frontend with </a:t>
            </a:r>
            <a:endParaRPr lang="en-US" altLang="en-US" sz="2400" b="1">
              <a:solidFill>
                <a:schemeClr val="tx1"/>
              </a:solidFill>
            </a:endParaRPr>
          </a:p>
          <a:p>
            <a:pPr algn="l"/>
            <a:r>
              <a:rPr lang="en-US" altLang="en-US" sz="2400" b="1">
                <a:solidFill>
                  <a:schemeClr val="tx1"/>
                </a:solidFill>
              </a:rPr>
              <a:t>     </a:t>
            </a:r>
            <a:r>
              <a:rPr lang="en-US" altLang="en-US" sz="2400" b="1">
                <a:sym typeface="+mn-ea"/>
              </a:rPr>
              <a:t>Python backend using Eel.js for </a:t>
            </a:r>
            <a:endParaRPr lang="en-US" altLang="en-US" sz="2400" b="1">
              <a:sym typeface="+mn-ea"/>
            </a:endParaRPr>
          </a:p>
          <a:p>
            <a:pPr algn="l"/>
            <a:r>
              <a:rPr lang="en-US" altLang="en-US" sz="2400" b="1">
                <a:sym typeface="+mn-ea"/>
              </a:rPr>
              <a:t>     </a:t>
            </a:r>
            <a:r>
              <a:rPr lang="en-US" altLang="en-US" sz="2400" b="1">
                <a:sym typeface="+mn-ea"/>
              </a:rPr>
              <a:t>real-time  interaction.</a:t>
            </a:r>
            <a:endParaRPr lang="en-US" altLang="en-US" sz="2400" b="1">
              <a:solidFill>
                <a:schemeClr val="tx1"/>
              </a:solidFill>
            </a:endParaRPr>
          </a:p>
          <a:p>
            <a:pPr algn="l"/>
            <a:endParaRPr lang="en-US" altLang="en-US" sz="2400" b="1">
              <a:solidFill>
                <a:schemeClr val="tx1"/>
              </a:solidFill>
            </a:endParaRPr>
          </a:p>
          <a:p>
            <a:pPr algn="l"/>
            <a:endParaRPr lang="en-US" altLang="en-US" sz="2400" b="1">
              <a:solidFill>
                <a:schemeClr val="tx1"/>
              </a:solidFill>
            </a:endParaRPr>
          </a:p>
          <a:p>
            <a:pPr algn="l"/>
            <a:endParaRPr lang="en-US" altLang="en-US" sz="2400" b="1">
              <a:solidFill>
                <a:schemeClr val="tx1"/>
              </a:solidFill>
            </a:endParaRPr>
          </a:p>
          <a:p>
            <a:pPr algn="l"/>
            <a:endParaRPr lang="en-US" altLang="en-US" sz="2400" b="1">
              <a:solidFill>
                <a:schemeClr val="tx1"/>
              </a:solidFill>
            </a:endParaRPr>
          </a:p>
          <a:p>
            <a:pPr algn="l"/>
            <a:endParaRPr lang="en-US" altLang="en-US" sz="2400" b="1">
              <a:solidFill>
                <a:schemeClr val="tx1"/>
              </a:solidFill>
            </a:endParaRPr>
          </a:p>
          <a:p>
            <a:pPr algn="l"/>
            <a:endParaRPr lang="en-US" altLang="en-US" sz="2400" b="1">
              <a:solidFill>
                <a:schemeClr val="tx1"/>
              </a:solidFill>
            </a:endParaRPr>
          </a:p>
          <a:p>
            <a:pPr algn="l"/>
            <a:endParaRPr lang="en-US" altLang="en-US" sz="2400" b="1">
              <a:solidFill>
                <a:schemeClr val="tx1"/>
              </a:solidFill>
            </a:endParaRPr>
          </a:p>
          <a:p>
            <a:pPr algn="l"/>
            <a:endParaRPr lang="en-US" altLang="en-US" sz="2400" b="1">
              <a:solidFill>
                <a:schemeClr val="tx1"/>
              </a:solidFill>
            </a:endParaRPr>
          </a:p>
          <a:p>
            <a:pPr algn="l"/>
            <a:endParaRPr lang="en-US" altLang="en-US" sz="2400" b="1">
              <a:solidFill>
                <a:schemeClr val="tx1"/>
              </a:solidFill>
            </a:endParaRPr>
          </a:p>
          <a:p>
            <a:pPr algn="l"/>
            <a:endParaRPr lang="en-US" altLang="en-US" sz="2400" b="1">
              <a:solidFill>
                <a:schemeClr val="tx1"/>
              </a:solidFill>
            </a:endParaRPr>
          </a:p>
          <a:p>
            <a:pPr algn="l"/>
            <a:endParaRPr lang="en-US" altLang="en-US" sz="2400" b="1">
              <a:solidFill>
                <a:schemeClr val="tx1"/>
              </a:solidFill>
            </a:endParaRPr>
          </a:p>
          <a:p>
            <a:pPr algn="l"/>
            <a:endParaRPr lang="en-US" altLang="en-US" sz="2400" b="1">
              <a:solidFill>
                <a:schemeClr val="tx1"/>
              </a:solidFill>
            </a:endParaRPr>
          </a:p>
          <a:p>
            <a:pPr algn="l"/>
            <a:endParaRPr lang="en-US" altLang="en-US" sz="2400" b="1">
              <a:solidFill>
                <a:schemeClr val="tx1"/>
              </a:solidFill>
            </a:endParaRPr>
          </a:p>
          <a:p>
            <a:pPr algn="l"/>
            <a:endParaRPr lang="en-US" altLang="en-US" sz="2400" b="1">
              <a:solidFill>
                <a:schemeClr val="tx1"/>
              </a:solidFill>
            </a:endParaRPr>
          </a:p>
          <a:p>
            <a:pPr algn="l"/>
            <a:endParaRPr lang="en-US" altLang="en-US" sz="2400" b="1">
              <a:solidFill>
                <a:schemeClr val="tx1"/>
              </a:solidFill>
            </a:endParaRPr>
          </a:p>
          <a:p>
            <a:pPr algn="l"/>
            <a:endParaRPr lang="en-US" altLang="en-US" sz="2400" b="1">
              <a:solidFill>
                <a:schemeClr val="tx1"/>
              </a:solidFill>
            </a:endParaRPr>
          </a:p>
          <a:p>
            <a:pPr algn="l"/>
            <a:endParaRPr lang="en-US" altLang="en-US" sz="2400" b="1">
              <a:solidFill>
                <a:schemeClr val="tx1"/>
              </a:solidFill>
            </a:endParaRPr>
          </a:p>
          <a:p>
            <a:pPr algn="l"/>
            <a:endParaRPr lang="en-US" altLang="en-US" sz="2400" b="1">
              <a:solidFill>
                <a:schemeClr val="tx1"/>
              </a:solidFill>
            </a:endParaRPr>
          </a:p>
          <a:p>
            <a:pPr algn="l"/>
            <a:endParaRPr lang="en-US" altLang="en-US" sz="2400" b="1">
              <a:solidFill>
                <a:schemeClr val="tx1"/>
              </a:solidFill>
            </a:endParaRPr>
          </a:p>
          <a:p>
            <a:pPr algn="l"/>
            <a:endParaRPr lang="en-US" altLang="en-US" sz="2400" b="1">
              <a:solidFill>
                <a:schemeClr val="tx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1"/>
          <a:srcRect l="14185" t="24529" r="26515" b="27426"/>
          <a:stretch>
            <a:fillRect/>
          </a:stretch>
        </p:blipFill>
        <p:spPr>
          <a:xfrm>
            <a:off x="0" y="0"/>
            <a:ext cx="9144000" cy="6858000"/>
          </a:xfrm>
          <a:prstGeom prst="rect">
            <a:avLst/>
          </a:prstGeom>
          <a:noFill/>
          <a:ln w="9525">
            <a:noFill/>
          </a:ln>
        </p:spPr>
      </p:pic>
      <p:sp>
        <p:nvSpPr>
          <p:cNvPr id="5125" name="文本框 6"/>
          <p:cNvSpPr txBox="1"/>
          <p:nvPr/>
        </p:nvSpPr>
        <p:spPr>
          <a:xfrm>
            <a:off x="3099435" y="5628005"/>
            <a:ext cx="1478280" cy="1058545"/>
          </a:xfrm>
          <a:prstGeom prst="rect">
            <a:avLst/>
          </a:prstGeom>
          <a:noFill/>
          <a:ln w="9525">
            <a:noFill/>
          </a:ln>
        </p:spPr>
        <p:txBody>
          <a:bodyPr anchor="t">
            <a:spAutoFit/>
          </a:bodyPr>
          <a:p>
            <a:endParaRPr lang="zh-CN" altLang="en-US" dirty="0">
              <a:solidFill>
                <a:schemeClr val="bg1"/>
              </a:solidFill>
              <a:ea typeface="Calibri" panose="020F0502020204030204" pitchFamily="34" charset="0"/>
            </a:endParaRPr>
          </a:p>
        </p:txBody>
      </p:sp>
      <p:sp>
        <p:nvSpPr>
          <p:cNvPr id="2" name="Text Box 1"/>
          <p:cNvSpPr txBox="1"/>
          <p:nvPr/>
        </p:nvSpPr>
        <p:spPr>
          <a:xfrm>
            <a:off x="2353945" y="520065"/>
            <a:ext cx="4436745" cy="706755"/>
          </a:xfrm>
          <a:prstGeom prst="rect">
            <a:avLst/>
          </a:prstGeom>
          <a:solidFill>
            <a:schemeClr val="tx1"/>
          </a:solidFill>
        </p:spPr>
        <p:txBody>
          <a:bodyPr wrap="square" rtlCol="0">
            <a:spAutoFit/>
          </a:bodyPr>
          <a:p>
            <a:pPr algn="ctr"/>
            <a:r>
              <a:rPr lang="en-US" sz="4000" b="1">
                <a:solidFill>
                  <a:srgbClr val="FFFF00"/>
                </a:solidFill>
              </a:rPr>
              <a:t>BACKEND</a:t>
            </a:r>
            <a:endParaRPr lang="en-US" sz="4000" b="1">
              <a:solidFill>
                <a:srgbClr val="FFFF00"/>
              </a:solidFill>
            </a:endParaRPr>
          </a:p>
        </p:txBody>
      </p:sp>
      <p:sp>
        <p:nvSpPr>
          <p:cNvPr id="3" name="Text Box 2"/>
          <p:cNvSpPr txBox="1"/>
          <p:nvPr/>
        </p:nvSpPr>
        <p:spPr>
          <a:xfrm>
            <a:off x="106045" y="1388110"/>
            <a:ext cx="8747760" cy="1198880"/>
          </a:xfrm>
          <a:prstGeom prst="rect">
            <a:avLst/>
          </a:prstGeom>
          <a:solidFill>
            <a:schemeClr val="tx1">
              <a:lumMod val="65000"/>
              <a:lumOff val="35000"/>
            </a:schemeClr>
          </a:solidFill>
        </p:spPr>
        <p:txBody>
          <a:bodyPr wrap="square" rtlCol="0">
            <a:spAutoFit/>
          </a:bodyPr>
          <a:p>
            <a:r>
              <a:rPr lang="en-US" altLang="en-US">
                <a:solidFill>
                  <a:schemeClr val="bg1"/>
                </a:solidFill>
              </a:rPr>
              <a:t>Overview:</a:t>
            </a:r>
            <a:endParaRPr lang="en-US" altLang="en-US">
              <a:solidFill>
                <a:schemeClr val="bg1"/>
              </a:solidFill>
            </a:endParaRPr>
          </a:p>
          <a:p>
            <a:r>
              <a:rPr lang="en-US" altLang="en-US">
                <a:solidFill>
                  <a:schemeClr val="bg1"/>
                </a:solidFill>
              </a:rPr>
              <a:t>The backend of the Raphael Voice Assistant handles all the core logic, speech processing, and response generation functionalities. It interacts with both system-level commands and external APIs to process voice input and generate meaningful replies.</a:t>
            </a:r>
            <a:endParaRPr lang="en-US" altLang="en-US">
              <a:solidFill>
                <a:schemeClr val="bg1"/>
              </a:solidFill>
            </a:endParaRPr>
          </a:p>
        </p:txBody>
      </p:sp>
      <p:sp>
        <p:nvSpPr>
          <p:cNvPr id="4" name="Text Box 3"/>
          <p:cNvSpPr txBox="1"/>
          <p:nvPr/>
        </p:nvSpPr>
        <p:spPr>
          <a:xfrm>
            <a:off x="106045" y="2748915"/>
            <a:ext cx="8912225" cy="4079875"/>
          </a:xfrm>
          <a:prstGeom prst="rect">
            <a:avLst/>
          </a:prstGeom>
          <a:solidFill>
            <a:schemeClr val="tx1">
              <a:lumMod val="65000"/>
              <a:lumOff val="35000"/>
            </a:schemeClr>
          </a:solidFill>
        </p:spPr>
        <p:txBody>
          <a:bodyPr wrap="square" rtlCol="0">
            <a:noAutofit/>
          </a:bodyPr>
          <a:p>
            <a:pPr algn="ctr"/>
            <a:r>
              <a:rPr lang="en-US" altLang="en-US" sz="2000">
                <a:solidFill>
                  <a:schemeClr val="bg1"/>
                </a:solidFill>
              </a:rPr>
              <a:t>Technologies Used:</a:t>
            </a:r>
            <a:endParaRPr lang="en-US" altLang="en-US" sz="2000">
              <a:solidFill>
                <a:schemeClr val="bg1"/>
              </a:solidFill>
            </a:endParaRPr>
          </a:p>
          <a:p>
            <a:pPr algn="ctr"/>
            <a:endParaRPr lang="en-US" altLang="en-US" sz="2000">
              <a:solidFill>
                <a:schemeClr val="bg1"/>
              </a:solidFill>
            </a:endParaRPr>
          </a:p>
          <a:p>
            <a:pPr algn="l"/>
            <a:r>
              <a:rPr lang="en-US" altLang="en-US" sz="2000">
                <a:solidFill>
                  <a:schemeClr val="bg1"/>
                </a:solidFill>
              </a:rPr>
              <a:t>1. Python: Primary language for logic and processing.</a:t>
            </a:r>
            <a:endParaRPr lang="en-US" altLang="en-US" sz="2000">
              <a:solidFill>
                <a:schemeClr val="bg1"/>
              </a:solidFill>
            </a:endParaRPr>
          </a:p>
          <a:p>
            <a:pPr algn="l"/>
            <a:r>
              <a:rPr lang="en-US" altLang="en-US" sz="2000">
                <a:solidFill>
                  <a:schemeClr val="bg1"/>
                </a:solidFill>
              </a:rPr>
              <a:t>2. Eel: Used to bridge the communication between the Python backend and </a:t>
            </a:r>
            <a:endParaRPr lang="en-US" altLang="en-US" sz="2000">
              <a:solidFill>
                <a:schemeClr val="bg1"/>
              </a:solidFill>
            </a:endParaRPr>
          </a:p>
          <a:p>
            <a:pPr algn="l"/>
            <a:r>
              <a:rPr lang="en-US" altLang="en-US" sz="2000">
                <a:solidFill>
                  <a:schemeClr val="bg1"/>
                </a:solidFill>
              </a:rPr>
              <a:t>     </a:t>
            </a:r>
            <a:r>
              <a:rPr lang="en-US" altLang="en-US" sz="2000">
                <a:solidFill>
                  <a:schemeClr val="bg1"/>
                </a:solidFill>
                <a:sym typeface="+mn-ea"/>
              </a:rPr>
              <a:t>HTML/JS frontend</a:t>
            </a:r>
            <a:r>
              <a:rPr lang="en-US" altLang="en-US" sz="2000">
                <a:solidFill>
                  <a:schemeClr val="bg1"/>
                </a:solidFill>
              </a:rPr>
              <a:t>.</a:t>
            </a:r>
            <a:endParaRPr lang="en-US" altLang="en-US" sz="2000">
              <a:solidFill>
                <a:schemeClr val="bg1"/>
              </a:solidFill>
            </a:endParaRPr>
          </a:p>
          <a:p>
            <a:pPr algn="l"/>
            <a:r>
              <a:rPr lang="en-US" altLang="en-US" sz="2000">
                <a:solidFill>
                  <a:schemeClr val="bg1"/>
                </a:solidFill>
              </a:rPr>
              <a:t>3. SpeechRecognition: Captures and processes user voice input.</a:t>
            </a:r>
            <a:endParaRPr lang="en-US" altLang="en-US" sz="2000">
              <a:solidFill>
                <a:schemeClr val="bg1"/>
              </a:solidFill>
            </a:endParaRPr>
          </a:p>
          <a:p>
            <a:pPr algn="l"/>
            <a:r>
              <a:rPr lang="en-US" altLang="en-US" sz="2000">
                <a:solidFill>
                  <a:schemeClr val="bg1"/>
                </a:solidFill>
              </a:rPr>
              <a:t>4. PyAudio: Supports real-time voice input from the mic.</a:t>
            </a:r>
            <a:endParaRPr lang="en-US" altLang="en-US" sz="2000">
              <a:solidFill>
                <a:schemeClr val="bg1"/>
              </a:solidFill>
            </a:endParaRPr>
          </a:p>
          <a:p>
            <a:pPr algn="l"/>
            <a:r>
              <a:rPr lang="en-US" altLang="en-US" sz="2000">
                <a:solidFill>
                  <a:schemeClr val="bg1"/>
                </a:solidFill>
              </a:rPr>
              <a:t>5. pyttsx3: Converts text responses into voice output.</a:t>
            </a:r>
            <a:endParaRPr lang="en-US" altLang="en-US" sz="2000">
              <a:solidFill>
                <a:schemeClr val="bg1"/>
              </a:solidFill>
            </a:endParaRPr>
          </a:p>
          <a:p>
            <a:pPr algn="l"/>
            <a:r>
              <a:rPr lang="en-US" altLang="en-US" sz="2000">
                <a:solidFill>
                  <a:schemeClr val="bg1"/>
                </a:solidFill>
              </a:rPr>
              <a:t>6. HugFace (HugChat): for generating AI responses.</a:t>
            </a:r>
            <a:endParaRPr lang="en-US" altLang="en-US" sz="2000">
              <a:solidFill>
                <a:schemeClr val="bg1"/>
              </a:solidFill>
            </a:endParaRPr>
          </a:p>
          <a:p>
            <a:pPr algn="l"/>
            <a:r>
              <a:rPr lang="en-US" altLang="en-US" sz="2000">
                <a:solidFill>
                  <a:schemeClr val="bg1"/>
                </a:solidFill>
              </a:rPr>
              <a:t>7. Custom made Functions for performing task like</a:t>
            </a:r>
            <a:br>
              <a:rPr lang="en-US" altLang="en-US" sz="2000">
                <a:solidFill>
                  <a:schemeClr val="bg1"/>
                </a:solidFill>
              </a:rPr>
            </a:br>
            <a:r>
              <a:rPr lang="en-US" altLang="en-US" sz="2000">
                <a:solidFill>
                  <a:schemeClr val="bg1"/>
                </a:solidFill>
              </a:rPr>
              <a:t>     -&gt;Opening Desktop Application</a:t>
            </a:r>
            <a:endParaRPr lang="en-US" altLang="en-US" sz="2000">
              <a:solidFill>
                <a:schemeClr val="bg1"/>
              </a:solidFill>
            </a:endParaRPr>
          </a:p>
          <a:p>
            <a:pPr algn="l"/>
            <a:r>
              <a:rPr lang="en-US" altLang="en-US" sz="2000">
                <a:solidFill>
                  <a:schemeClr val="bg1"/>
                </a:solidFill>
              </a:rPr>
              <a:t>     -&gt;Whatsapp automation</a:t>
            </a:r>
            <a:endParaRPr lang="en-US" altLang="en-US" sz="2000">
              <a:solidFill>
                <a:schemeClr val="bg1"/>
              </a:solidFill>
            </a:endParaRPr>
          </a:p>
          <a:p>
            <a:pPr algn="l"/>
            <a:r>
              <a:rPr lang="en-US" altLang="en-US" sz="2000">
                <a:solidFill>
                  <a:schemeClr val="bg1"/>
                </a:solidFill>
              </a:rPr>
              <a:t>     -&gt;Weburl opening(like youtube,whatsapp facebook etc.)</a:t>
            </a:r>
            <a:endParaRPr lang="en-US" altLang="en-US" sz="2000">
              <a:solidFill>
                <a:schemeClr val="bg1"/>
              </a:solidFill>
            </a:endParaRPr>
          </a:p>
          <a:p>
            <a:pPr algn="l"/>
            <a:endParaRPr lang="en-US" altLang="en-US" sz="2000">
              <a:solidFill>
                <a:schemeClr val="bg1"/>
              </a:solidFill>
            </a:endParaRPr>
          </a:p>
          <a:p>
            <a:pPr algn="l"/>
            <a:endParaRPr lang="en-US" altLang="en-US" sz="2000">
              <a:solidFill>
                <a:schemeClr val="bg1"/>
              </a:solidFill>
            </a:endParaRPr>
          </a:p>
          <a:p>
            <a:pPr algn="l"/>
            <a:endParaRPr lang="en-US" altLang="en-US" sz="2000">
              <a:solidFill>
                <a:schemeClr val="bg1"/>
              </a:solidFill>
            </a:endParaRPr>
          </a:p>
          <a:p>
            <a:pPr algn="l"/>
            <a:endParaRPr lang="en-US" altLang="en-US" sz="2000">
              <a:solidFill>
                <a:schemeClr val="bg1"/>
              </a:solidFill>
            </a:endParaRPr>
          </a:p>
          <a:p>
            <a:pPr algn="l"/>
            <a:endParaRPr lang="en-US" altLang="en-US" sz="2000">
              <a:solidFill>
                <a:schemeClr val="bg1"/>
              </a:solidFill>
            </a:endParaRPr>
          </a:p>
          <a:p>
            <a:pPr algn="l"/>
            <a:endParaRPr lang="en-US" altLang="en-US" sz="2000">
              <a:solidFill>
                <a:schemeClr val="bg1"/>
              </a:solidFill>
            </a:endParaRPr>
          </a:p>
          <a:p>
            <a:pPr algn="l"/>
            <a:endParaRPr lang="en-US" altLang="en-US" sz="2000">
              <a:solidFill>
                <a:schemeClr val="bg1"/>
              </a:solidFill>
            </a:endParaRPr>
          </a:p>
          <a:p>
            <a:pPr algn="ctr"/>
            <a:endParaRPr lang="en-US" altLang="en-US" sz="2000">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1"/>
          <a:srcRect l="14185" t="24529" r="26515" b="27426"/>
          <a:stretch>
            <a:fillRect/>
          </a:stretch>
        </p:blipFill>
        <p:spPr>
          <a:xfrm>
            <a:off x="0" y="0"/>
            <a:ext cx="9144000" cy="6858000"/>
          </a:xfrm>
          <a:prstGeom prst="rect">
            <a:avLst/>
          </a:prstGeom>
          <a:noFill/>
          <a:ln w="9525">
            <a:noFill/>
          </a:ln>
        </p:spPr>
      </p:pic>
      <p:sp>
        <p:nvSpPr>
          <p:cNvPr id="5125" name="文本框 6"/>
          <p:cNvSpPr txBox="1"/>
          <p:nvPr/>
        </p:nvSpPr>
        <p:spPr>
          <a:xfrm>
            <a:off x="3099435" y="5628005"/>
            <a:ext cx="1478280" cy="1058545"/>
          </a:xfrm>
          <a:prstGeom prst="rect">
            <a:avLst/>
          </a:prstGeom>
          <a:noFill/>
          <a:ln w="9525">
            <a:noFill/>
          </a:ln>
        </p:spPr>
        <p:txBody>
          <a:bodyPr anchor="t">
            <a:spAutoFit/>
          </a:bodyPr>
          <a:p>
            <a:endParaRPr lang="zh-CN" altLang="en-US" dirty="0">
              <a:solidFill>
                <a:schemeClr val="bg1"/>
              </a:solidFill>
              <a:ea typeface="Calibri" panose="020F0502020204030204" pitchFamily="34" charset="0"/>
            </a:endParaRPr>
          </a:p>
        </p:txBody>
      </p:sp>
      <p:sp>
        <p:nvSpPr>
          <p:cNvPr id="3" name="Text Box 2"/>
          <p:cNvSpPr txBox="1"/>
          <p:nvPr/>
        </p:nvSpPr>
        <p:spPr>
          <a:xfrm>
            <a:off x="4697095" y="462280"/>
            <a:ext cx="4156710" cy="5278755"/>
          </a:xfrm>
          <a:prstGeom prst="rect">
            <a:avLst/>
          </a:prstGeom>
          <a:solidFill>
            <a:schemeClr val="bg1"/>
          </a:solidFill>
          <a:ln w="57150">
            <a:solidFill>
              <a:srgbClr val="FF0000"/>
            </a:solidFill>
          </a:ln>
        </p:spPr>
        <p:txBody>
          <a:bodyPr wrap="square" rtlCol="0">
            <a:noAutofit/>
          </a:bodyPr>
          <a:p>
            <a:endParaRPr lang="en-US" altLang="en-US">
              <a:solidFill>
                <a:schemeClr val="tx1"/>
              </a:solidFill>
            </a:endParaRPr>
          </a:p>
          <a:p>
            <a:r>
              <a:rPr lang="en-US" altLang="en-US">
                <a:solidFill>
                  <a:schemeClr val="tx1"/>
                </a:solidFill>
              </a:rPr>
              <a:t>1. Eel is a Python library that allows easy </a:t>
            </a:r>
            <a:endParaRPr lang="en-US" altLang="en-US">
              <a:solidFill>
                <a:schemeClr val="tx1"/>
              </a:solidFill>
            </a:endParaRPr>
          </a:p>
          <a:p>
            <a:r>
              <a:rPr lang="en-US" altLang="en-US">
                <a:solidFill>
                  <a:schemeClr val="tx1"/>
                </a:solidFill>
              </a:rPr>
              <a:t>     </a:t>
            </a:r>
            <a:r>
              <a:rPr lang="en-US" altLang="en-US">
                <a:solidFill>
                  <a:schemeClr val="tx1"/>
                </a:solidFill>
                <a:sym typeface="+mn-ea"/>
              </a:rPr>
              <a:t>communication between Python </a:t>
            </a:r>
            <a:endParaRPr lang="en-US" altLang="en-US">
              <a:solidFill>
                <a:schemeClr val="tx1"/>
              </a:solidFill>
              <a:sym typeface="+mn-ea"/>
            </a:endParaRPr>
          </a:p>
          <a:p>
            <a:r>
              <a:rPr lang="en-US" altLang="en-US">
                <a:solidFill>
                  <a:schemeClr val="tx1"/>
                </a:solidFill>
                <a:sym typeface="+mn-ea"/>
              </a:rPr>
              <a:t>     </a:t>
            </a:r>
            <a:r>
              <a:rPr lang="en-US" altLang="en-US">
                <a:solidFill>
                  <a:schemeClr val="tx1"/>
                </a:solidFill>
                <a:sym typeface="+mn-ea"/>
              </a:rPr>
              <a:t>(backend) and HTML/JavaScript </a:t>
            </a:r>
            <a:endParaRPr lang="en-US" altLang="en-US">
              <a:solidFill>
                <a:schemeClr val="tx1"/>
              </a:solidFill>
              <a:sym typeface="+mn-ea"/>
            </a:endParaRPr>
          </a:p>
          <a:p>
            <a:r>
              <a:rPr lang="en-US" altLang="en-US">
                <a:solidFill>
                  <a:schemeClr val="tx1"/>
                </a:solidFill>
                <a:sym typeface="+mn-ea"/>
              </a:rPr>
              <a:t>     (frontend).</a:t>
            </a:r>
            <a:endParaRPr lang="en-US" altLang="en-US">
              <a:solidFill>
                <a:schemeClr val="tx1"/>
              </a:solidFill>
              <a:sym typeface="+mn-ea"/>
            </a:endParaRPr>
          </a:p>
          <a:p>
            <a:endParaRPr lang="en-US" altLang="en-US">
              <a:solidFill>
                <a:schemeClr val="tx1"/>
              </a:solidFill>
              <a:sym typeface="+mn-ea"/>
            </a:endParaRPr>
          </a:p>
          <a:p>
            <a:r>
              <a:rPr lang="en-US" altLang="en-US">
                <a:solidFill>
                  <a:schemeClr val="tx1"/>
                </a:solidFill>
                <a:sym typeface="+mn-ea"/>
              </a:rPr>
              <a:t>2. </a:t>
            </a:r>
            <a:r>
              <a:rPr lang="en-US" altLang="en-US">
                <a:solidFill>
                  <a:schemeClr val="tx1"/>
                </a:solidFill>
              </a:rPr>
              <a:t>Acts as a bridge between the voice </a:t>
            </a:r>
            <a:endParaRPr lang="en-US" altLang="en-US">
              <a:solidFill>
                <a:schemeClr val="tx1"/>
              </a:solidFill>
            </a:endParaRPr>
          </a:p>
          <a:p>
            <a:r>
              <a:rPr lang="en-US" altLang="en-US">
                <a:solidFill>
                  <a:schemeClr val="tx1"/>
                </a:solidFill>
              </a:rPr>
              <a:t>    </a:t>
            </a:r>
            <a:r>
              <a:rPr lang="en-US" altLang="en-US">
                <a:solidFill>
                  <a:schemeClr val="tx1"/>
                </a:solidFill>
                <a:sym typeface="+mn-ea"/>
              </a:rPr>
              <a:t>processing logic and the user interface.</a:t>
            </a:r>
            <a:endParaRPr lang="en-US" altLang="en-US">
              <a:solidFill>
                <a:schemeClr val="tx1"/>
              </a:solidFill>
              <a:sym typeface="+mn-ea"/>
            </a:endParaRPr>
          </a:p>
          <a:p>
            <a:endParaRPr lang="en-US" altLang="en-US">
              <a:solidFill>
                <a:schemeClr val="tx1"/>
              </a:solidFill>
              <a:sym typeface="+mn-ea"/>
            </a:endParaRPr>
          </a:p>
          <a:p>
            <a:r>
              <a:rPr lang="en-US" altLang="en-US">
                <a:solidFill>
                  <a:schemeClr val="tx1"/>
                </a:solidFill>
                <a:sym typeface="+mn-ea"/>
              </a:rPr>
              <a:t>3. </a:t>
            </a:r>
            <a:r>
              <a:rPr lang="en-US" altLang="en-US">
                <a:solidFill>
                  <a:schemeClr val="tx1"/>
                </a:solidFill>
              </a:rPr>
              <a:t>HTML, CSS, and JS are loaded in a </a:t>
            </a:r>
            <a:endParaRPr lang="en-US" altLang="en-US">
              <a:solidFill>
                <a:schemeClr val="tx1"/>
              </a:solidFill>
            </a:endParaRPr>
          </a:p>
          <a:p>
            <a:r>
              <a:rPr lang="en-US" altLang="en-US">
                <a:solidFill>
                  <a:schemeClr val="tx1"/>
                </a:solidFill>
              </a:rPr>
              <a:t>    </a:t>
            </a:r>
            <a:r>
              <a:rPr lang="en-US" altLang="en-US">
                <a:solidFill>
                  <a:schemeClr val="tx1"/>
                </a:solidFill>
                <a:sym typeface="+mn-ea"/>
              </a:rPr>
              <a:t>browser-like window by Python.</a:t>
            </a:r>
            <a:endParaRPr lang="en-US" altLang="en-US">
              <a:solidFill>
                <a:schemeClr val="tx1"/>
              </a:solidFill>
              <a:sym typeface="+mn-ea"/>
            </a:endParaRPr>
          </a:p>
          <a:p>
            <a:endParaRPr lang="en-US" altLang="en-US">
              <a:solidFill>
                <a:schemeClr val="tx1"/>
              </a:solidFill>
              <a:sym typeface="+mn-ea"/>
            </a:endParaRPr>
          </a:p>
          <a:p>
            <a:r>
              <a:rPr lang="en-US" altLang="en-US">
                <a:solidFill>
                  <a:schemeClr val="tx1"/>
                </a:solidFill>
                <a:sym typeface="+mn-ea"/>
              </a:rPr>
              <a:t>4. JS functions can call Python functions </a:t>
            </a:r>
            <a:endParaRPr lang="en-US" altLang="en-US">
              <a:solidFill>
                <a:schemeClr val="tx1"/>
              </a:solidFill>
              <a:sym typeface="+mn-ea"/>
            </a:endParaRPr>
          </a:p>
          <a:p>
            <a:r>
              <a:rPr lang="en-US" altLang="en-US">
                <a:solidFill>
                  <a:schemeClr val="tx1"/>
                </a:solidFill>
                <a:sym typeface="+mn-ea"/>
              </a:rPr>
              <a:t>    </a:t>
            </a:r>
            <a:r>
              <a:rPr lang="en-US" altLang="en-US">
                <a:solidFill>
                  <a:schemeClr val="tx1"/>
                </a:solidFill>
                <a:sym typeface="+mn-ea"/>
              </a:rPr>
              <a:t>using eel.expose() and vice versa.</a:t>
            </a:r>
            <a:endParaRPr lang="en-US" altLang="en-US">
              <a:solidFill>
                <a:schemeClr val="tx1"/>
              </a:solidFill>
              <a:sym typeface="+mn-ea"/>
            </a:endParaRPr>
          </a:p>
          <a:p>
            <a:endParaRPr lang="en-US" altLang="en-US">
              <a:solidFill>
                <a:schemeClr val="tx1"/>
              </a:solidFill>
              <a:sym typeface="+mn-ea"/>
            </a:endParaRPr>
          </a:p>
          <a:p>
            <a:r>
              <a:rPr lang="en-US" altLang="en-US">
                <a:solidFill>
                  <a:schemeClr val="tx1"/>
                </a:solidFill>
                <a:sym typeface="+mn-ea"/>
              </a:rPr>
              <a:t>5. </a:t>
            </a:r>
            <a:r>
              <a:rPr lang="en-US" altLang="en-US">
                <a:solidFill>
                  <a:schemeClr val="tx1"/>
                </a:solidFill>
              </a:rPr>
              <a:t>Enables seamless data flow: user speaks </a:t>
            </a:r>
            <a:endParaRPr lang="en-US" altLang="en-US">
              <a:solidFill>
                <a:schemeClr val="tx1"/>
              </a:solidFill>
            </a:endParaRPr>
          </a:p>
          <a:p>
            <a:r>
              <a:rPr lang="en-US" altLang="en-US">
                <a:solidFill>
                  <a:schemeClr val="tx1"/>
                </a:solidFill>
              </a:rPr>
              <a:t>     </a:t>
            </a:r>
            <a:r>
              <a:rPr lang="en-US" altLang="en-US">
                <a:solidFill>
                  <a:schemeClr val="tx1"/>
                </a:solidFill>
                <a:sym typeface="+mn-ea"/>
              </a:rPr>
              <a:t>→ Python processes → result shown on </a:t>
            </a:r>
            <a:endParaRPr lang="en-US" altLang="en-US">
              <a:solidFill>
                <a:schemeClr val="tx1"/>
              </a:solidFill>
              <a:sym typeface="+mn-ea"/>
            </a:endParaRPr>
          </a:p>
          <a:p>
            <a:r>
              <a:rPr lang="en-US" altLang="en-US">
                <a:solidFill>
                  <a:schemeClr val="tx1"/>
                </a:solidFill>
                <a:sym typeface="+mn-ea"/>
              </a:rPr>
              <a:t>     </a:t>
            </a:r>
            <a:r>
              <a:rPr lang="en-US" altLang="en-US">
                <a:solidFill>
                  <a:schemeClr val="tx1"/>
                </a:solidFill>
                <a:sym typeface="+mn-ea"/>
              </a:rPr>
              <a:t>UI and spoken back.</a:t>
            </a:r>
            <a:endParaRPr lang="en-US" altLang="en-US">
              <a:solidFill>
                <a:schemeClr val="tx1"/>
              </a:solidFill>
              <a:sym typeface="+mn-ea"/>
            </a:endParaRPr>
          </a:p>
          <a:p>
            <a:endParaRPr lang="en-US" altLang="en-US">
              <a:solidFill>
                <a:schemeClr val="tx1"/>
              </a:solidFill>
            </a:endParaRPr>
          </a:p>
          <a:p>
            <a:endParaRPr lang="en-US" altLang="en-US">
              <a:solidFill>
                <a:schemeClr val="tx1"/>
              </a:solidFill>
            </a:endParaRPr>
          </a:p>
          <a:p>
            <a:endParaRPr lang="en-US" altLang="en-US">
              <a:solidFill>
                <a:schemeClr val="tx1"/>
              </a:solidFill>
            </a:endParaRPr>
          </a:p>
          <a:p>
            <a:endParaRPr lang="en-US" altLang="en-US">
              <a:solidFill>
                <a:schemeClr val="tx1"/>
              </a:solidFill>
            </a:endParaRPr>
          </a:p>
          <a:p>
            <a:endParaRPr lang="en-US" altLang="en-US">
              <a:solidFill>
                <a:schemeClr val="tx1"/>
              </a:solidFill>
            </a:endParaRPr>
          </a:p>
          <a:p>
            <a:endParaRPr lang="en-US" altLang="en-US">
              <a:solidFill>
                <a:schemeClr val="tx1"/>
              </a:solidFill>
            </a:endParaRPr>
          </a:p>
          <a:p>
            <a:endParaRPr lang="en-US" altLang="en-US">
              <a:solidFill>
                <a:schemeClr val="tx1"/>
              </a:solidFill>
            </a:endParaRPr>
          </a:p>
          <a:p>
            <a:endParaRPr lang="en-US" altLang="en-US">
              <a:solidFill>
                <a:schemeClr val="tx1"/>
              </a:solidFill>
            </a:endParaRPr>
          </a:p>
          <a:p>
            <a:endParaRPr lang="en-US" altLang="en-US">
              <a:solidFill>
                <a:schemeClr val="tx1"/>
              </a:solidFill>
            </a:endParaRPr>
          </a:p>
        </p:txBody>
      </p:sp>
      <p:sp>
        <p:nvSpPr>
          <p:cNvPr id="5" name="Text Box 4"/>
          <p:cNvSpPr txBox="1"/>
          <p:nvPr/>
        </p:nvSpPr>
        <p:spPr>
          <a:xfrm>
            <a:off x="331470" y="462280"/>
            <a:ext cx="4365625" cy="452120"/>
          </a:xfrm>
          <a:prstGeom prst="rect">
            <a:avLst/>
          </a:prstGeom>
          <a:solidFill>
            <a:schemeClr val="tx1"/>
          </a:solidFill>
          <a:ln w="57150">
            <a:solidFill>
              <a:srgbClr val="FF0000"/>
            </a:solidFill>
          </a:ln>
        </p:spPr>
        <p:txBody>
          <a:bodyPr wrap="square" rtlCol="0">
            <a:noAutofit/>
          </a:bodyPr>
          <a:p>
            <a:r>
              <a:rPr lang="en-US" altLang="en-US">
                <a:solidFill>
                  <a:schemeClr val="bg1"/>
                </a:solidFill>
              </a:rPr>
              <a:t>Connecting Backend with Frontend using Eel</a:t>
            </a:r>
            <a:endParaRPr lang="en-US" altLang="en-US">
              <a:solidFill>
                <a:schemeClr val="bg1"/>
              </a:solidFill>
            </a:endParaRPr>
          </a:p>
          <a:p>
            <a:endParaRPr lang="en-US" altLang="en-US">
              <a:solidFill>
                <a:schemeClr val="bg1"/>
              </a:solidFill>
            </a:endParaRPr>
          </a:p>
        </p:txBody>
      </p:sp>
      <p:sp>
        <p:nvSpPr>
          <p:cNvPr id="6" name="Text Box 5"/>
          <p:cNvSpPr txBox="1"/>
          <p:nvPr/>
        </p:nvSpPr>
        <p:spPr>
          <a:xfrm>
            <a:off x="331470" y="1901190"/>
            <a:ext cx="3527425" cy="579120"/>
          </a:xfrm>
          <a:prstGeom prst="rect">
            <a:avLst/>
          </a:prstGeom>
          <a:solidFill>
            <a:srgbClr val="FF0000"/>
          </a:solidFill>
          <a:ln w="57150">
            <a:solidFill>
              <a:srgbClr val="0070C0"/>
            </a:solidFill>
          </a:ln>
        </p:spPr>
        <p:txBody>
          <a:bodyPr wrap="square" rtlCol="0">
            <a:noAutofit/>
          </a:bodyPr>
          <a:p>
            <a:pPr algn="ctr"/>
            <a:r>
              <a:rPr lang="en-US" altLang="en-US">
                <a:solidFill>
                  <a:schemeClr val="bg1"/>
                </a:solidFill>
              </a:rPr>
              <a:t>Text-to-Speech using pyttsx3</a:t>
            </a:r>
            <a:endParaRPr lang="en-US" altLang="en-US">
              <a:solidFill>
                <a:schemeClr val="bg1"/>
              </a:solidFill>
            </a:endParaRPr>
          </a:p>
        </p:txBody>
      </p:sp>
      <p:sp>
        <p:nvSpPr>
          <p:cNvPr id="7" name="Text Box 6"/>
          <p:cNvSpPr txBox="1"/>
          <p:nvPr/>
        </p:nvSpPr>
        <p:spPr>
          <a:xfrm>
            <a:off x="331470" y="2480310"/>
            <a:ext cx="3527425" cy="3260090"/>
          </a:xfrm>
          <a:prstGeom prst="rect">
            <a:avLst/>
          </a:prstGeom>
          <a:solidFill>
            <a:schemeClr val="bg1"/>
          </a:solidFill>
          <a:ln w="57150">
            <a:solidFill>
              <a:srgbClr val="0070C0"/>
            </a:solidFill>
          </a:ln>
        </p:spPr>
        <p:txBody>
          <a:bodyPr wrap="square" rtlCol="0">
            <a:noAutofit/>
          </a:bodyPr>
          <a:p>
            <a:pPr algn="l"/>
            <a:r>
              <a:rPr lang="en-US" altLang="en-US">
                <a:solidFill>
                  <a:schemeClr val="tx1"/>
                </a:solidFill>
              </a:rPr>
              <a:t>1. pyttsx3 is a Python library used </a:t>
            </a:r>
            <a:endParaRPr lang="en-US" altLang="en-US">
              <a:solidFill>
                <a:schemeClr val="tx1"/>
              </a:solidFill>
            </a:endParaRPr>
          </a:p>
          <a:p>
            <a:pPr algn="l"/>
            <a:r>
              <a:rPr lang="en-US" altLang="en-US">
                <a:solidFill>
                  <a:schemeClr val="tx1"/>
                </a:solidFill>
              </a:rPr>
              <a:t>    </a:t>
            </a:r>
            <a:r>
              <a:rPr lang="en-US" altLang="en-US">
                <a:solidFill>
                  <a:schemeClr val="tx1"/>
                </a:solidFill>
                <a:sym typeface="+mn-ea"/>
              </a:rPr>
              <a:t>for converting text to speech.</a:t>
            </a:r>
            <a:endParaRPr lang="en-US" altLang="en-US">
              <a:solidFill>
                <a:schemeClr val="tx1"/>
              </a:solidFill>
              <a:sym typeface="+mn-ea"/>
            </a:endParaRPr>
          </a:p>
          <a:p>
            <a:pPr algn="l"/>
            <a:endParaRPr lang="en-US" altLang="en-US">
              <a:solidFill>
                <a:schemeClr val="tx1"/>
              </a:solidFill>
              <a:sym typeface="+mn-ea"/>
            </a:endParaRPr>
          </a:p>
          <a:p>
            <a:pPr algn="l"/>
            <a:r>
              <a:rPr lang="en-US" altLang="en-US">
                <a:solidFill>
                  <a:schemeClr val="tx1"/>
                </a:solidFill>
                <a:sym typeface="+mn-ea"/>
              </a:rPr>
              <a:t>2. It </a:t>
            </a:r>
            <a:r>
              <a:rPr lang="en-US" altLang="en-US">
                <a:solidFill>
                  <a:schemeClr val="tx1"/>
                </a:solidFill>
              </a:rPr>
              <a:t>Converts the assistant's </a:t>
            </a:r>
            <a:endParaRPr lang="en-US" altLang="en-US">
              <a:solidFill>
                <a:schemeClr val="tx1"/>
              </a:solidFill>
            </a:endParaRPr>
          </a:p>
          <a:p>
            <a:pPr algn="l"/>
            <a:r>
              <a:rPr lang="en-US" altLang="en-US">
                <a:solidFill>
                  <a:schemeClr val="tx1"/>
                </a:solidFill>
              </a:rPr>
              <a:t>    </a:t>
            </a:r>
            <a:r>
              <a:rPr lang="en-US" altLang="en-US">
                <a:solidFill>
                  <a:schemeClr val="tx1"/>
                </a:solidFill>
                <a:sym typeface="+mn-ea"/>
              </a:rPr>
              <a:t>response into audio so the user </a:t>
            </a:r>
            <a:endParaRPr lang="en-US" altLang="en-US">
              <a:solidFill>
                <a:schemeClr val="tx1"/>
              </a:solidFill>
              <a:sym typeface="+mn-ea"/>
            </a:endParaRPr>
          </a:p>
          <a:p>
            <a:pPr algn="l"/>
            <a:r>
              <a:rPr lang="en-US" altLang="en-US">
                <a:solidFill>
                  <a:schemeClr val="tx1"/>
                </a:solidFill>
                <a:sym typeface="+mn-ea"/>
              </a:rPr>
              <a:t>    </a:t>
            </a:r>
            <a:r>
              <a:rPr lang="en-US" altLang="en-US">
                <a:solidFill>
                  <a:schemeClr val="tx1"/>
                </a:solidFill>
                <a:sym typeface="+mn-ea"/>
              </a:rPr>
              <a:t>can hear the reply.</a:t>
            </a:r>
            <a:endParaRPr lang="en-US" altLang="en-US">
              <a:solidFill>
                <a:schemeClr val="tx1"/>
              </a:solidFill>
              <a:sym typeface="+mn-ea"/>
            </a:endParaRPr>
          </a:p>
          <a:p>
            <a:pPr algn="l"/>
            <a:endParaRPr lang="en-US" altLang="en-US">
              <a:solidFill>
                <a:schemeClr val="tx1"/>
              </a:solidFill>
              <a:sym typeface="+mn-ea"/>
            </a:endParaRPr>
          </a:p>
          <a:p>
            <a:pPr algn="l"/>
            <a:r>
              <a:rPr lang="en-US" altLang="en-US">
                <a:solidFill>
                  <a:schemeClr val="tx1"/>
                </a:solidFill>
                <a:sym typeface="+mn-ea"/>
              </a:rPr>
              <a:t>3. </a:t>
            </a:r>
            <a:r>
              <a:rPr lang="en-US" altLang="en-US">
                <a:solidFill>
                  <a:schemeClr val="tx1"/>
                </a:solidFill>
              </a:rPr>
              <a:t>Integrated in the backend to </a:t>
            </a:r>
            <a:endParaRPr lang="en-US" altLang="en-US">
              <a:solidFill>
                <a:schemeClr val="tx1"/>
              </a:solidFill>
            </a:endParaRPr>
          </a:p>
          <a:p>
            <a:pPr algn="l"/>
            <a:r>
              <a:rPr lang="en-US" altLang="en-US">
                <a:solidFill>
                  <a:schemeClr val="tx1"/>
                </a:solidFill>
              </a:rPr>
              <a:t>    </a:t>
            </a:r>
            <a:r>
              <a:rPr lang="en-US" altLang="en-US">
                <a:solidFill>
                  <a:schemeClr val="tx1"/>
                </a:solidFill>
                <a:sym typeface="+mn-ea"/>
              </a:rPr>
              <a:t>respond vocally after processing </a:t>
            </a:r>
            <a:endParaRPr lang="en-US" altLang="en-US">
              <a:solidFill>
                <a:schemeClr val="tx1"/>
              </a:solidFill>
              <a:sym typeface="+mn-ea"/>
            </a:endParaRPr>
          </a:p>
          <a:p>
            <a:pPr algn="l"/>
            <a:r>
              <a:rPr lang="en-US" altLang="en-US">
                <a:solidFill>
                  <a:schemeClr val="tx1"/>
                </a:solidFill>
                <a:sym typeface="+mn-ea"/>
              </a:rPr>
              <a:t>    </a:t>
            </a:r>
            <a:r>
              <a:rPr lang="en-US" altLang="en-US">
                <a:solidFill>
                  <a:schemeClr val="tx1"/>
                </a:solidFill>
                <a:sym typeface="+mn-ea"/>
              </a:rPr>
              <a:t>commands</a:t>
            </a:r>
            <a:r>
              <a:rPr lang="en-US" altLang="en-US">
                <a:solidFill>
                  <a:schemeClr val="tx1"/>
                </a:solidFill>
                <a:sym typeface="+mn-ea"/>
              </a:rPr>
              <a:t>.</a:t>
            </a:r>
            <a:endParaRPr lang="en-US" altLang="en-US">
              <a:solidFill>
                <a:schemeClr val="tx1"/>
              </a:solidFill>
            </a:endParaRPr>
          </a:p>
          <a:p>
            <a:pPr algn="l"/>
            <a:endParaRPr lang="en-US" altLang="en-US">
              <a:solidFill>
                <a:schemeClr val="tx1"/>
              </a:solidFill>
            </a:endParaRPr>
          </a:p>
          <a:p>
            <a:pPr algn="l"/>
            <a:endParaRPr lang="en-US" altLang="en-US">
              <a:solidFill>
                <a:schemeClr val="tx1"/>
              </a:solidFill>
            </a:endParaRPr>
          </a:p>
          <a:p>
            <a:pPr algn="l"/>
            <a:endParaRPr lang="en-US" altLang="en-US">
              <a:solidFill>
                <a:schemeClr val="tx1"/>
              </a:solidFill>
            </a:endParaRPr>
          </a:p>
          <a:p>
            <a:pPr algn="l"/>
            <a:endParaRPr lang="en-US" altLang="en-US">
              <a:solidFill>
                <a:schemeClr val="tx1"/>
              </a:solidFill>
            </a:endParaRPr>
          </a:p>
          <a:p>
            <a:pPr algn="l"/>
            <a:endParaRPr lang="en-US" altLang="en-US">
              <a:solidFill>
                <a:schemeClr val="tx1"/>
              </a:solidFill>
            </a:endParaRPr>
          </a:p>
          <a:p>
            <a:pPr algn="l"/>
            <a:endParaRPr lang="en-US" altLang="en-US">
              <a:solidFill>
                <a:schemeClr val="tx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1"/>
          <a:srcRect l="14185" t="24529" r="26515" b="27426"/>
          <a:stretch>
            <a:fillRect/>
          </a:stretch>
        </p:blipFill>
        <p:spPr>
          <a:xfrm>
            <a:off x="0" y="0"/>
            <a:ext cx="9144000" cy="6858000"/>
          </a:xfrm>
          <a:prstGeom prst="rect">
            <a:avLst/>
          </a:prstGeom>
          <a:noFill/>
          <a:ln w="9525">
            <a:noFill/>
          </a:ln>
        </p:spPr>
      </p:pic>
      <p:sp>
        <p:nvSpPr>
          <p:cNvPr id="5125" name="文本框 6"/>
          <p:cNvSpPr txBox="1"/>
          <p:nvPr/>
        </p:nvSpPr>
        <p:spPr>
          <a:xfrm>
            <a:off x="3099435" y="5628005"/>
            <a:ext cx="1478280" cy="1058545"/>
          </a:xfrm>
          <a:prstGeom prst="rect">
            <a:avLst/>
          </a:prstGeom>
          <a:noFill/>
          <a:ln w="9525">
            <a:noFill/>
          </a:ln>
        </p:spPr>
        <p:txBody>
          <a:bodyPr anchor="t">
            <a:spAutoFit/>
          </a:bodyPr>
          <a:p>
            <a:endParaRPr lang="zh-CN" altLang="en-US" dirty="0">
              <a:solidFill>
                <a:schemeClr val="bg1"/>
              </a:solidFill>
              <a:ea typeface="Calibri" panose="020F0502020204030204" pitchFamily="34" charset="0"/>
            </a:endParaRPr>
          </a:p>
        </p:txBody>
      </p:sp>
      <p:sp>
        <p:nvSpPr>
          <p:cNvPr id="3" name="Text Box 2"/>
          <p:cNvSpPr txBox="1"/>
          <p:nvPr/>
        </p:nvSpPr>
        <p:spPr>
          <a:xfrm>
            <a:off x="106045" y="568325"/>
            <a:ext cx="4311650" cy="615950"/>
          </a:xfrm>
          <a:prstGeom prst="rect">
            <a:avLst/>
          </a:prstGeom>
          <a:solidFill>
            <a:schemeClr val="accent6"/>
          </a:solidFill>
          <a:ln w="57150">
            <a:solidFill>
              <a:schemeClr val="accent1">
                <a:lumMod val="75000"/>
              </a:schemeClr>
            </a:solidFill>
          </a:ln>
        </p:spPr>
        <p:txBody>
          <a:bodyPr wrap="square" rtlCol="0">
            <a:noAutofit/>
          </a:bodyPr>
          <a:p>
            <a:pPr algn="ctr"/>
            <a:r>
              <a:rPr lang="en-US" altLang="en-US">
                <a:solidFill>
                  <a:schemeClr val="bg1"/>
                </a:solidFill>
              </a:rPr>
              <a:t>Speech Recognition using speech_recognition &amp; pyaudio</a:t>
            </a:r>
            <a:endParaRPr lang="en-US" altLang="en-US">
              <a:solidFill>
                <a:schemeClr val="bg1"/>
              </a:solidFill>
            </a:endParaRPr>
          </a:p>
          <a:p>
            <a:pPr algn="ctr"/>
            <a:endParaRPr lang="en-US" altLang="en-US">
              <a:solidFill>
                <a:schemeClr val="bg1"/>
              </a:solidFill>
            </a:endParaRPr>
          </a:p>
        </p:txBody>
      </p:sp>
      <p:sp>
        <p:nvSpPr>
          <p:cNvPr id="4" name="Text Box 3"/>
          <p:cNvSpPr txBox="1"/>
          <p:nvPr/>
        </p:nvSpPr>
        <p:spPr>
          <a:xfrm>
            <a:off x="105410" y="1210310"/>
            <a:ext cx="4312920" cy="4417695"/>
          </a:xfrm>
          <a:prstGeom prst="rect">
            <a:avLst/>
          </a:prstGeom>
          <a:solidFill>
            <a:schemeClr val="tx1">
              <a:lumMod val="50000"/>
              <a:lumOff val="50000"/>
            </a:schemeClr>
          </a:solidFill>
          <a:ln w="57150">
            <a:solidFill>
              <a:schemeClr val="accent1">
                <a:lumMod val="75000"/>
              </a:schemeClr>
            </a:solidFill>
          </a:ln>
        </p:spPr>
        <p:txBody>
          <a:bodyPr wrap="square" rtlCol="0">
            <a:noAutofit/>
          </a:bodyPr>
          <a:p>
            <a:pPr algn="l"/>
            <a:r>
              <a:rPr lang="en-US" altLang="en-US">
                <a:solidFill>
                  <a:schemeClr val="bg1"/>
                </a:solidFill>
              </a:rPr>
              <a:t>1. Used to capture and convert spoken </a:t>
            </a:r>
            <a:endParaRPr lang="en-US" altLang="en-US">
              <a:solidFill>
                <a:schemeClr val="bg1"/>
              </a:solidFill>
            </a:endParaRPr>
          </a:p>
          <a:p>
            <a:pPr algn="l"/>
            <a:r>
              <a:rPr lang="en-US" altLang="en-US">
                <a:solidFill>
                  <a:schemeClr val="bg1"/>
                </a:solidFill>
              </a:rPr>
              <a:t>    </a:t>
            </a:r>
            <a:r>
              <a:rPr lang="en-US" altLang="en-US">
                <a:solidFill>
                  <a:schemeClr val="bg1"/>
                </a:solidFill>
                <a:sym typeface="+mn-ea"/>
              </a:rPr>
              <a:t>commands into text.</a:t>
            </a:r>
            <a:endParaRPr lang="en-US" altLang="en-US">
              <a:solidFill>
                <a:schemeClr val="bg1"/>
              </a:solidFill>
            </a:endParaRPr>
          </a:p>
          <a:p>
            <a:pPr algn="l"/>
            <a:r>
              <a:rPr lang="en-US" altLang="en-US">
                <a:solidFill>
                  <a:schemeClr val="bg1"/>
                </a:solidFill>
              </a:rPr>
              <a:t>2. speech_recognition handles the </a:t>
            </a:r>
            <a:endParaRPr lang="en-US" altLang="en-US">
              <a:solidFill>
                <a:schemeClr val="bg1"/>
              </a:solidFill>
            </a:endParaRPr>
          </a:p>
          <a:p>
            <a:pPr algn="l"/>
            <a:r>
              <a:rPr lang="en-US" altLang="en-US">
                <a:solidFill>
                  <a:schemeClr val="bg1"/>
                </a:solidFill>
              </a:rPr>
              <a:t>    </a:t>
            </a:r>
            <a:r>
              <a:rPr lang="en-US" altLang="en-US">
                <a:solidFill>
                  <a:schemeClr val="bg1"/>
                </a:solidFill>
                <a:sym typeface="+mn-ea"/>
              </a:rPr>
              <a:t>transcription of audio input into readable </a:t>
            </a:r>
            <a:endParaRPr lang="en-US" altLang="en-US">
              <a:solidFill>
                <a:schemeClr val="bg1"/>
              </a:solidFill>
              <a:sym typeface="+mn-ea"/>
            </a:endParaRPr>
          </a:p>
          <a:p>
            <a:pPr algn="l"/>
            <a:r>
              <a:rPr lang="en-US" altLang="en-US">
                <a:solidFill>
                  <a:schemeClr val="bg1"/>
                </a:solidFill>
                <a:sym typeface="+mn-ea"/>
              </a:rPr>
              <a:t>    </a:t>
            </a:r>
            <a:r>
              <a:rPr lang="en-US" altLang="en-US">
                <a:solidFill>
                  <a:schemeClr val="bg1"/>
                </a:solidFill>
                <a:sym typeface="+mn-ea"/>
              </a:rPr>
              <a:t>text</a:t>
            </a:r>
            <a:r>
              <a:rPr lang="en-US" altLang="en-US">
                <a:solidFill>
                  <a:schemeClr val="bg1"/>
                </a:solidFill>
                <a:sym typeface="+mn-ea"/>
              </a:rPr>
              <a:t>.</a:t>
            </a:r>
            <a:endParaRPr lang="en-US" altLang="en-US">
              <a:solidFill>
                <a:schemeClr val="bg1"/>
              </a:solidFill>
              <a:sym typeface="+mn-ea"/>
            </a:endParaRPr>
          </a:p>
          <a:p>
            <a:pPr algn="l"/>
            <a:r>
              <a:rPr lang="en-US" altLang="en-US">
                <a:solidFill>
                  <a:schemeClr val="bg1"/>
                </a:solidFill>
                <a:sym typeface="+mn-ea"/>
              </a:rPr>
              <a:t>3. </a:t>
            </a:r>
            <a:r>
              <a:rPr lang="en-US" altLang="en-US">
                <a:solidFill>
                  <a:schemeClr val="bg1"/>
                </a:solidFill>
              </a:rPr>
              <a:t>pyaudio is used to access the microphone </a:t>
            </a:r>
            <a:endParaRPr lang="en-US" altLang="en-US">
              <a:solidFill>
                <a:schemeClr val="bg1"/>
              </a:solidFill>
            </a:endParaRPr>
          </a:p>
          <a:p>
            <a:pPr algn="l"/>
            <a:r>
              <a:rPr lang="en-US" altLang="en-US">
                <a:solidFill>
                  <a:schemeClr val="bg1"/>
                </a:solidFill>
              </a:rPr>
              <a:t>    </a:t>
            </a:r>
            <a:r>
              <a:rPr lang="en-US" altLang="en-US">
                <a:solidFill>
                  <a:schemeClr val="bg1"/>
                </a:solidFill>
                <a:sym typeface="+mn-ea"/>
              </a:rPr>
              <a:t>and stream audio in real time.</a:t>
            </a:r>
            <a:endParaRPr lang="en-US" altLang="en-US">
              <a:solidFill>
                <a:schemeClr val="bg1"/>
              </a:solidFill>
              <a:sym typeface="+mn-ea"/>
            </a:endParaRPr>
          </a:p>
          <a:p>
            <a:pPr algn="l"/>
            <a:r>
              <a:rPr lang="en-US" altLang="en-US">
                <a:solidFill>
                  <a:schemeClr val="bg1"/>
                </a:solidFill>
                <a:sym typeface="+mn-ea"/>
              </a:rPr>
              <a:t>4. </a:t>
            </a:r>
            <a:r>
              <a:rPr lang="en-US" altLang="en-US">
                <a:solidFill>
                  <a:schemeClr val="bg1"/>
                </a:solidFill>
              </a:rPr>
              <a:t>Enables voice-controlled interaction with </a:t>
            </a:r>
            <a:endParaRPr lang="en-US" altLang="en-US">
              <a:solidFill>
                <a:schemeClr val="bg1"/>
              </a:solidFill>
            </a:endParaRPr>
          </a:p>
          <a:p>
            <a:pPr algn="l"/>
            <a:r>
              <a:rPr lang="en-US" altLang="en-US">
                <a:solidFill>
                  <a:schemeClr val="bg1"/>
                </a:solidFill>
              </a:rPr>
              <a:t>    </a:t>
            </a:r>
            <a:r>
              <a:rPr lang="en-US" altLang="en-US">
                <a:solidFill>
                  <a:schemeClr val="bg1"/>
                </a:solidFill>
                <a:sym typeface="+mn-ea"/>
              </a:rPr>
              <a:t>the assistant.</a:t>
            </a:r>
            <a:endParaRPr lang="en-US" altLang="en-US">
              <a:solidFill>
                <a:schemeClr val="bg1"/>
              </a:solidFill>
            </a:endParaRPr>
          </a:p>
          <a:p>
            <a:pPr algn="l"/>
            <a:r>
              <a:rPr lang="en-US" altLang="en-US">
                <a:solidFill>
                  <a:schemeClr val="bg1"/>
                </a:solidFill>
              </a:rPr>
              <a:t>5. Supports multiple recognition engines </a:t>
            </a:r>
            <a:endParaRPr lang="en-US" altLang="en-US">
              <a:solidFill>
                <a:schemeClr val="bg1"/>
              </a:solidFill>
            </a:endParaRPr>
          </a:p>
          <a:p>
            <a:pPr algn="l"/>
            <a:r>
              <a:rPr lang="en-US" altLang="en-US">
                <a:solidFill>
                  <a:schemeClr val="bg1"/>
                </a:solidFill>
              </a:rPr>
              <a:t>    </a:t>
            </a:r>
            <a:r>
              <a:rPr lang="en-US" altLang="en-US">
                <a:solidFill>
                  <a:schemeClr val="bg1"/>
                </a:solidFill>
                <a:sym typeface="+mn-ea"/>
              </a:rPr>
              <a:t>(like Google Web Speech API).</a:t>
            </a:r>
            <a:endParaRPr lang="en-US" altLang="en-US">
              <a:solidFill>
                <a:schemeClr val="bg1"/>
              </a:solidFill>
            </a:endParaRPr>
          </a:p>
          <a:p>
            <a:pPr algn="l"/>
            <a:r>
              <a:rPr lang="en-US" altLang="en-US">
                <a:solidFill>
                  <a:schemeClr val="bg1"/>
                </a:solidFill>
              </a:rPr>
              <a:t>6. Essential for hands-free, seamless voice </a:t>
            </a:r>
            <a:endParaRPr lang="en-US" altLang="en-US">
              <a:solidFill>
                <a:schemeClr val="bg1"/>
              </a:solidFill>
            </a:endParaRPr>
          </a:p>
          <a:p>
            <a:pPr algn="l"/>
            <a:r>
              <a:rPr lang="en-US" altLang="en-US">
                <a:solidFill>
                  <a:schemeClr val="bg1"/>
                </a:solidFill>
              </a:rPr>
              <a:t>    </a:t>
            </a:r>
            <a:r>
              <a:rPr lang="en-US" altLang="en-US">
                <a:solidFill>
                  <a:schemeClr val="bg1"/>
                </a:solidFill>
                <a:sym typeface="+mn-ea"/>
              </a:rPr>
              <a:t>input experience.</a:t>
            </a:r>
            <a:endParaRPr lang="en-US" altLang="en-US">
              <a:solidFill>
                <a:schemeClr val="bg1"/>
              </a:solidFill>
            </a:endParaRPr>
          </a:p>
          <a:p>
            <a:pPr algn="l"/>
            <a:endParaRPr lang="en-US" altLang="en-US">
              <a:solidFill>
                <a:schemeClr val="bg1"/>
              </a:solidFill>
            </a:endParaRPr>
          </a:p>
          <a:p>
            <a:pPr algn="l"/>
            <a:endParaRPr lang="en-US" altLang="en-US">
              <a:solidFill>
                <a:schemeClr val="bg1"/>
              </a:solidFill>
            </a:endParaRPr>
          </a:p>
          <a:p>
            <a:pPr algn="l"/>
            <a:endParaRPr lang="en-US" altLang="en-US">
              <a:solidFill>
                <a:schemeClr val="bg1"/>
              </a:solidFill>
            </a:endParaRPr>
          </a:p>
          <a:p>
            <a:pPr algn="l"/>
            <a:endParaRPr lang="en-US" altLang="en-US">
              <a:solidFill>
                <a:schemeClr val="bg1"/>
              </a:solidFill>
            </a:endParaRPr>
          </a:p>
          <a:p>
            <a:pPr algn="l"/>
            <a:endParaRPr lang="en-US" altLang="en-US">
              <a:solidFill>
                <a:schemeClr val="bg1"/>
              </a:solidFill>
            </a:endParaRPr>
          </a:p>
          <a:p>
            <a:pPr algn="l"/>
            <a:endParaRPr lang="en-US" altLang="en-US">
              <a:solidFill>
                <a:schemeClr val="bg1"/>
              </a:solidFill>
            </a:endParaRPr>
          </a:p>
        </p:txBody>
      </p:sp>
      <p:sp>
        <p:nvSpPr>
          <p:cNvPr id="5" name="Text Box 4"/>
          <p:cNvSpPr txBox="1"/>
          <p:nvPr/>
        </p:nvSpPr>
        <p:spPr>
          <a:xfrm>
            <a:off x="4689475" y="568325"/>
            <a:ext cx="4311650" cy="615950"/>
          </a:xfrm>
          <a:prstGeom prst="rect">
            <a:avLst/>
          </a:prstGeom>
          <a:solidFill>
            <a:schemeClr val="accent1">
              <a:lumMod val="40000"/>
              <a:lumOff val="60000"/>
            </a:schemeClr>
          </a:solidFill>
          <a:ln w="57150">
            <a:solidFill>
              <a:schemeClr val="accent1">
                <a:lumMod val="75000"/>
              </a:schemeClr>
            </a:solidFill>
          </a:ln>
        </p:spPr>
        <p:txBody>
          <a:bodyPr wrap="square" rtlCol="0">
            <a:noAutofit/>
          </a:bodyPr>
          <a:p>
            <a:pPr algn="ctr"/>
            <a:r>
              <a:rPr lang="en-US" altLang="en-US">
                <a:solidFill>
                  <a:schemeClr val="tx1"/>
                </a:solidFill>
              </a:rPr>
              <a:t>HugChat Integration using Cookie Session</a:t>
            </a:r>
            <a:endParaRPr lang="en-US" altLang="en-US">
              <a:solidFill>
                <a:schemeClr val="tx1"/>
              </a:solidFill>
            </a:endParaRPr>
          </a:p>
          <a:p>
            <a:pPr algn="ctr"/>
            <a:endParaRPr lang="en-US" altLang="en-US">
              <a:solidFill>
                <a:schemeClr val="tx1"/>
              </a:solidFill>
            </a:endParaRPr>
          </a:p>
        </p:txBody>
      </p:sp>
      <p:sp>
        <p:nvSpPr>
          <p:cNvPr id="8" name="Text Box 7"/>
          <p:cNvSpPr txBox="1"/>
          <p:nvPr/>
        </p:nvSpPr>
        <p:spPr>
          <a:xfrm>
            <a:off x="4688205" y="1210310"/>
            <a:ext cx="4312920" cy="4417695"/>
          </a:xfrm>
          <a:prstGeom prst="rect">
            <a:avLst/>
          </a:prstGeom>
          <a:solidFill>
            <a:schemeClr val="tx1">
              <a:lumMod val="50000"/>
              <a:lumOff val="50000"/>
            </a:schemeClr>
          </a:solidFill>
          <a:ln w="57150">
            <a:solidFill>
              <a:schemeClr val="accent1">
                <a:lumMod val="75000"/>
              </a:schemeClr>
            </a:solidFill>
          </a:ln>
        </p:spPr>
        <p:txBody>
          <a:bodyPr wrap="square" rtlCol="0">
            <a:noAutofit/>
          </a:bodyPr>
          <a:p>
            <a:pPr algn="l"/>
            <a:r>
              <a:rPr lang="en-US" altLang="en-US">
                <a:solidFill>
                  <a:schemeClr val="bg1"/>
                </a:solidFill>
              </a:rPr>
              <a:t>1. HugChat is integrated to enable natural</a:t>
            </a:r>
            <a:endParaRPr lang="en-US" altLang="en-US">
              <a:solidFill>
                <a:schemeClr val="bg1"/>
              </a:solidFill>
            </a:endParaRPr>
          </a:p>
          <a:p>
            <a:pPr algn="l"/>
            <a:r>
              <a:rPr lang="en-US" altLang="en-US">
                <a:solidFill>
                  <a:schemeClr val="bg1"/>
                </a:solidFill>
              </a:rPr>
              <a:t>    </a:t>
            </a:r>
            <a:r>
              <a:rPr lang="en-US" altLang="en-US">
                <a:solidFill>
                  <a:schemeClr val="bg1"/>
                </a:solidFill>
                <a:sym typeface="+mn-ea"/>
              </a:rPr>
              <a:t>language understanding via ChatGPT.</a:t>
            </a:r>
            <a:r>
              <a:rPr lang="en-US" altLang="en-US">
                <a:solidFill>
                  <a:schemeClr val="bg1"/>
                </a:solidFill>
              </a:rPr>
              <a:t> </a:t>
            </a:r>
            <a:endParaRPr lang="en-US" altLang="en-US">
              <a:solidFill>
                <a:schemeClr val="bg1"/>
              </a:solidFill>
            </a:endParaRPr>
          </a:p>
          <a:p>
            <a:pPr algn="l"/>
            <a:r>
              <a:rPr lang="en-US" altLang="en-US">
                <a:solidFill>
                  <a:schemeClr val="bg1"/>
                </a:solidFill>
              </a:rPr>
              <a:t>2. Used cookie-based session authentication </a:t>
            </a:r>
            <a:endParaRPr lang="en-US" altLang="en-US">
              <a:solidFill>
                <a:schemeClr val="bg1"/>
              </a:solidFill>
            </a:endParaRPr>
          </a:p>
          <a:p>
            <a:pPr algn="l"/>
            <a:r>
              <a:rPr lang="en-US" altLang="en-US">
                <a:solidFill>
                  <a:schemeClr val="bg1"/>
                </a:solidFill>
              </a:rPr>
              <a:t>    </a:t>
            </a:r>
            <a:r>
              <a:rPr lang="en-US" altLang="en-US">
                <a:solidFill>
                  <a:schemeClr val="bg1"/>
                </a:solidFill>
                <a:sym typeface="+mn-ea"/>
              </a:rPr>
              <a:t>to maintain login state securely.</a:t>
            </a:r>
            <a:endParaRPr lang="en-US" altLang="en-US">
              <a:solidFill>
                <a:schemeClr val="bg1"/>
              </a:solidFill>
            </a:endParaRPr>
          </a:p>
          <a:p>
            <a:pPr algn="l"/>
            <a:r>
              <a:rPr lang="en-US" altLang="en-US">
                <a:solidFill>
                  <a:schemeClr val="bg1"/>
                </a:solidFill>
              </a:rPr>
              <a:t>3. Allows sending and receiving messages </a:t>
            </a:r>
            <a:endParaRPr lang="en-US" altLang="en-US">
              <a:solidFill>
                <a:schemeClr val="bg1"/>
              </a:solidFill>
            </a:endParaRPr>
          </a:p>
          <a:p>
            <a:pPr algn="l"/>
            <a:r>
              <a:rPr lang="en-US" altLang="en-US">
                <a:solidFill>
                  <a:schemeClr val="bg1"/>
                </a:solidFill>
              </a:rPr>
              <a:t>    </a:t>
            </a:r>
            <a:r>
              <a:rPr lang="en-US" altLang="en-US">
                <a:solidFill>
                  <a:schemeClr val="bg1"/>
                </a:solidFill>
                <a:sym typeface="+mn-ea"/>
              </a:rPr>
              <a:t>programmatically through the Hugging </a:t>
            </a:r>
            <a:endParaRPr lang="en-US" altLang="en-US">
              <a:solidFill>
                <a:schemeClr val="bg1"/>
              </a:solidFill>
              <a:sym typeface="+mn-ea"/>
            </a:endParaRPr>
          </a:p>
          <a:p>
            <a:pPr algn="l"/>
            <a:r>
              <a:rPr lang="en-US" altLang="en-US">
                <a:solidFill>
                  <a:schemeClr val="bg1"/>
                </a:solidFill>
                <a:sym typeface="+mn-ea"/>
              </a:rPr>
              <a:t>    </a:t>
            </a:r>
            <a:r>
              <a:rPr lang="en-US" altLang="en-US">
                <a:solidFill>
                  <a:schemeClr val="bg1"/>
                </a:solidFill>
                <a:sym typeface="+mn-ea"/>
              </a:rPr>
              <a:t>Face Chat API.</a:t>
            </a:r>
            <a:endParaRPr lang="en-US" altLang="en-US">
              <a:solidFill>
                <a:schemeClr val="bg1"/>
              </a:solidFill>
            </a:endParaRPr>
          </a:p>
          <a:p>
            <a:pPr algn="l"/>
            <a:r>
              <a:rPr lang="en-US" altLang="en-US">
                <a:solidFill>
                  <a:schemeClr val="bg1"/>
                </a:solidFill>
              </a:rPr>
              <a:t>4. Ensures persistent session management </a:t>
            </a:r>
            <a:endParaRPr lang="en-US" altLang="en-US">
              <a:solidFill>
                <a:schemeClr val="bg1"/>
              </a:solidFill>
            </a:endParaRPr>
          </a:p>
          <a:p>
            <a:pPr algn="l"/>
            <a:r>
              <a:rPr lang="en-US" altLang="en-US">
                <a:solidFill>
                  <a:schemeClr val="bg1"/>
                </a:solidFill>
              </a:rPr>
              <a:t>    </a:t>
            </a:r>
            <a:r>
              <a:rPr lang="en-US" altLang="en-US">
                <a:solidFill>
                  <a:schemeClr val="bg1"/>
                </a:solidFill>
                <a:sym typeface="+mn-ea"/>
              </a:rPr>
              <a:t>without re-authenticating each time.</a:t>
            </a:r>
            <a:endParaRPr lang="en-US" altLang="en-US">
              <a:solidFill>
                <a:schemeClr val="bg1"/>
              </a:solidFill>
            </a:endParaRPr>
          </a:p>
          <a:p>
            <a:pPr algn="l"/>
            <a:r>
              <a:rPr lang="en-US" altLang="en-US">
                <a:solidFill>
                  <a:schemeClr val="bg1"/>
                </a:solidFill>
              </a:rPr>
              <a:t>5. Enhances conversation continuity and </a:t>
            </a:r>
            <a:endParaRPr lang="en-US" altLang="en-US">
              <a:solidFill>
                <a:schemeClr val="bg1"/>
              </a:solidFill>
            </a:endParaRPr>
          </a:p>
          <a:p>
            <a:pPr algn="l"/>
            <a:r>
              <a:rPr lang="en-US" altLang="en-US">
                <a:solidFill>
                  <a:schemeClr val="bg1"/>
                </a:solidFill>
              </a:rPr>
              <a:t>    </a:t>
            </a:r>
            <a:r>
              <a:rPr lang="en-US" altLang="en-US">
                <a:solidFill>
                  <a:schemeClr val="bg1"/>
                </a:solidFill>
                <a:sym typeface="+mn-ea"/>
              </a:rPr>
              <a:t>simplifies backend interaction with the AI</a:t>
            </a:r>
            <a:endParaRPr lang="en-US" altLang="en-US">
              <a:solidFill>
                <a:schemeClr val="bg1"/>
              </a:solidFill>
              <a:sym typeface="+mn-ea"/>
            </a:endParaRPr>
          </a:p>
          <a:p>
            <a:pPr algn="l"/>
            <a:r>
              <a:rPr lang="en-US" altLang="en-US">
                <a:solidFill>
                  <a:schemeClr val="bg1"/>
                </a:solidFill>
                <a:sym typeface="+mn-ea"/>
              </a:rPr>
              <a:t>    </a:t>
            </a:r>
            <a:r>
              <a:rPr lang="en-US" altLang="en-US">
                <a:solidFill>
                  <a:schemeClr val="bg1"/>
                </a:solidFill>
                <a:sym typeface="+mn-ea"/>
              </a:rPr>
              <a:t>model</a:t>
            </a:r>
            <a:r>
              <a:rPr lang="en-US" altLang="en-US">
                <a:solidFill>
                  <a:schemeClr val="bg1"/>
                </a:solidFill>
                <a:sym typeface="+mn-ea"/>
              </a:rPr>
              <a:t>.</a:t>
            </a:r>
            <a:endParaRPr lang="en-US" altLang="en-US">
              <a:solidFill>
                <a:schemeClr val="bg1"/>
              </a:solidFill>
            </a:endParaRPr>
          </a:p>
          <a:p>
            <a:pPr algn="l"/>
            <a:endParaRPr lang="en-US" altLang="en-US">
              <a:solidFill>
                <a:schemeClr val="bg1"/>
              </a:solidFill>
            </a:endParaRPr>
          </a:p>
          <a:p>
            <a:pPr algn="l"/>
            <a:endParaRPr lang="en-US" altLang="en-US">
              <a:solidFill>
                <a:schemeClr val="bg1"/>
              </a:solidFill>
            </a:endParaRPr>
          </a:p>
          <a:p>
            <a:pPr algn="l"/>
            <a:endParaRPr lang="en-US" altLang="en-US">
              <a:solidFill>
                <a:schemeClr val="bg1"/>
              </a:solidFill>
            </a:endParaRPr>
          </a:p>
          <a:p>
            <a:pPr algn="l"/>
            <a:r>
              <a:rPr lang="en-US" altLang="en-US">
                <a:solidFill>
                  <a:schemeClr val="bg1"/>
                </a:solidFill>
              </a:rPr>
              <a:t> </a:t>
            </a:r>
            <a:endParaRPr lang="en-US" altLang="en-US">
              <a:solidFill>
                <a:schemeClr val="bg1"/>
              </a:solidFill>
            </a:endParaRPr>
          </a:p>
          <a:p>
            <a:pPr algn="l"/>
            <a:endParaRPr lang="en-US" altLang="en-US">
              <a:solidFill>
                <a:schemeClr val="bg1"/>
              </a:solidFill>
            </a:endParaRPr>
          </a:p>
          <a:p>
            <a:pPr algn="l"/>
            <a:endParaRPr lang="en-US" altLang="en-US">
              <a:solidFill>
                <a:schemeClr val="bg1"/>
              </a:solidFill>
            </a:endParaRPr>
          </a:p>
          <a:p>
            <a:pPr algn="l"/>
            <a:endParaRPr lang="en-US" altLang="en-US">
              <a:solidFill>
                <a:schemeClr val="bg1"/>
              </a:solidFill>
            </a:endParaRPr>
          </a:p>
          <a:p>
            <a:pPr algn="l"/>
            <a:endParaRPr lang="en-US" altLang="en-US">
              <a:solidFill>
                <a:schemeClr val="bg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1"/>
          <a:srcRect l="14185" t="24529" r="26515" b="27426"/>
          <a:stretch>
            <a:fillRect/>
          </a:stretch>
        </p:blipFill>
        <p:spPr>
          <a:xfrm>
            <a:off x="0" y="0"/>
            <a:ext cx="9144000" cy="6858000"/>
          </a:xfrm>
          <a:prstGeom prst="rect">
            <a:avLst/>
          </a:prstGeom>
          <a:noFill/>
          <a:ln w="9525">
            <a:noFill/>
          </a:ln>
        </p:spPr>
      </p:pic>
      <p:sp>
        <p:nvSpPr>
          <p:cNvPr id="5125" name="文本框 6"/>
          <p:cNvSpPr txBox="1"/>
          <p:nvPr/>
        </p:nvSpPr>
        <p:spPr>
          <a:xfrm>
            <a:off x="3099435" y="5628005"/>
            <a:ext cx="1478280" cy="1058545"/>
          </a:xfrm>
          <a:prstGeom prst="rect">
            <a:avLst/>
          </a:prstGeom>
          <a:noFill/>
          <a:ln w="9525">
            <a:noFill/>
          </a:ln>
        </p:spPr>
        <p:txBody>
          <a:bodyPr anchor="t">
            <a:spAutoFit/>
          </a:bodyPr>
          <a:p>
            <a:endParaRPr lang="zh-CN" altLang="en-US" dirty="0">
              <a:solidFill>
                <a:schemeClr val="bg1"/>
              </a:solidFill>
              <a:ea typeface="Calibri" panose="020F0502020204030204" pitchFamily="34" charset="0"/>
            </a:endParaRPr>
          </a:p>
        </p:txBody>
      </p:sp>
      <p:sp>
        <p:nvSpPr>
          <p:cNvPr id="2" name="Text Box 1"/>
          <p:cNvSpPr txBox="1"/>
          <p:nvPr/>
        </p:nvSpPr>
        <p:spPr>
          <a:xfrm>
            <a:off x="839470" y="240665"/>
            <a:ext cx="7465060" cy="561975"/>
          </a:xfrm>
          <a:prstGeom prst="rect">
            <a:avLst/>
          </a:prstGeom>
          <a:noFill/>
        </p:spPr>
        <p:txBody>
          <a:bodyPr wrap="square" rtlCol="0">
            <a:noAutofit/>
          </a:bodyPr>
          <a:p>
            <a:pPr algn="ctr"/>
            <a:r>
              <a:rPr lang="en-US" sz="3600" b="1">
                <a:solidFill>
                  <a:schemeClr val="accent1">
                    <a:lumMod val="60000"/>
                    <a:lumOff val="40000"/>
                  </a:schemeClr>
                </a:solidFill>
                <a:highlight>
                  <a:srgbClr val="FF00FF"/>
                </a:highlight>
              </a:rPr>
              <a:t>CUSTOM MADE FUNCTIONS</a:t>
            </a:r>
            <a:endParaRPr lang="en-US" sz="3600" b="1">
              <a:solidFill>
                <a:schemeClr val="accent1">
                  <a:lumMod val="60000"/>
                  <a:lumOff val="40000"/>
                </a:schemeClr>
              </a:solidFill>
              <a:highlight>
                <a:srgbClr val="FF00FF"/>
              </a:highlight>
            </a:endParaRPr>
          </a:p>
        </p:txBody>
      </p:sp>
      <p:sp>
        <p:nvSpPr>
          <p:cNvPr id="4" name="Text Box 3"/>
          <p:cNvSpPr txBox="1"/>
          <p:nvPr/>
        </p:nvSpPr>
        <p:spPr>
          <a:xfrm>
            <a:off x="1050925" y="1063625"/>
            <a:ext cx="7253605" cy="488315"/>
          </a:xfrm>
          <a:prstGeom prst="rect">
            <a:avLst/>
          </a:prstGeom>
          <a:solidFill>
            <a:schemeClr val="tx1"/>
          </a:solidFill>
        </p:spPr>
        <p:txBody>
          <a:bodyPr wrap="square" rtlCol="0">
            <a:noAutofit/>
          </a:bodyPr>
          <a:p>
            <a:pPr algn="ctr"/>
            <a:r>
              <a:rPr lang="en-US" altLang="en-US" sz="2400" b="1">
                <a:solidFill>
                  <a:schemeClr val="bg1"/>
                </a:solidFill>
              </a:rPr>
              <a:t>Custom Open Application Functionality</a:t>
            </a:r>
            <a:endParaRPr lang="en-US" altLang="en-US" sz="2400" b="1">
              <a:solidFill>
                <a:schemeClr val="bg1"/>
              </a:solidFill>
            </a:endParaRPr>
          </a:p>
        </p:txBody>
      </p:sp>
      <p:sp>
        <p:nvSpPr>
          <p:cNvPr id="5" name="Text Box 4"/>
          <p:cNvSpPr txBox="1"/>
          <p:nvPr/>
        </p:nvSpPr>
        <p:spPr>
          <a:xfrm>
            <a:off x="521335" y="1687195"/>
            <a:ext cx="8197850" cy="5085080"/>
          </a:xfrm>
          <a:prstGeom prst="rect">
            <a:avLst/>
          </a:prstGeom>
          <a:solidFill>
            <a:schemeClr val="tx1"/>
          </a:solidFill>
        </p:spPr>
        <p:txBody>
          <a:bodyPr wrap="square" rtlCol="0">
            <a:noAutofit/>
          </a:bodyPr>
          <a:p>
            <a:pPr algn="l"/>
            <a:r>
              <a:rPr lang="en-US" altLang="en-US" b="1">
                <a:solidFill>
                  <a:schemeClr val="bg1"/>
                </a:solidFill>
                <a:sym typeface="+mn-ea"/>
              </a:rPr>
              <a:t>1. </a:t>
            </a:r>
            <a:r>
              <a:rPr lang="en-US" altLang="en-US" b="1">
                <a:solidFill>
                  <a:schemeClr val="bg1"/>
                </a:solidFill>
              </a:rPr>
              <a:t>Implemented a dynamic openCommand() function to open installed applications </a:t>
            </a:r>
            <a:endParaRPr lang="en-US" altLang="en-US" b="1">
              <a:solidFill>
                <a:schemeClr val="bg1"/>
              </a:solidFill>
            </a:endParaRPr>
          </a:p>
          <a:p>
            <a:pPr algn="l"/>
            <a:r>
              <a:rPr lang="en-US" altLang="en-US" b="1">
                <a:solidFill>
                  <a:schemeClr val="bg1"/>
                </a:solidFill>
              </a:rPr>
              <a:t>    </a:t>
            </a:r>
            <a:r>
              <a:rPr lang="en-US" altLang="en-US" b="1">
                <a:solidFill>
                  <a:schemeClr val="bg1"/>
                </a:solidFill>
                <a:sym typeface="+mn-ea"/>
              </a:rPr>
              <a:t>or websites via voice command.</a:t>
            </a:r>
            <a:endParaRPr lang="en-US" altLang="en-US" b="1">
              <a:solidFill>
                <a:schemeClr val="bg1"/>
              </a:solidFill>
              <a:sym typeface="+mn-ea"/>
            </a:endParaRPr>
          </a:p>
          <a:p>
            <a:pPr algn="l"/>
            <a:endParaRPr lang="en-US" altLang="en-US" b="1">
              <a:solidFill>
                <a:schemeClr val="bg1"/>
              </a:solidFill>
              <a:sym typeface="+mn-ea"/>
            </a:endParaRPr>
          </a:p>
          <a:p>
            <a:pPr algn="l"/>
            <a:r>
              <a:rPr lang="en-US" altLang="en-US" b="1">
                <a:solidFill>
                  <a:schemeClr val="bg1"/>
                </a:solidFill>
                <a:sym typeface="+mn-ea"/>
              </a:rPr>
              <a:t>2. </a:t>
            </a:r>
            <a:r>
              <a:rPr lang="en-US" altLang="en-US" b="1">
                <a:solidFill>
                  <a:schemeClr val="bg1"/>
                </a:solidFill>
              </a:rPr>
              <a:t>Recognizes command by stripping the assistant’s name and the word “open” from </a:t>
            </a:r>
            <a:endParaRPr lang="en-US" altLang="en-US" b="1">
              <a:solidFill>
                <a:schemeClr val="bg1"/>
              </a:solidFill>
            </a:endParaRPr>
          </a:p>
          <a:p>
            <a:pPr algn="l"/>
            <a:r>
              <a:rPr lang="en-US" altLang="en-US" b="1">
                <a:solidFill>
                  <a:schemeClr val="bg1"/>
                </a:solidFill>
              </a:rPr>
              <a:t>    </a:t>
            </a:r>
            <a:r>
              <a:rPr lang="en-US" altLang="en-US" b="1">
                <a:solidFill>
                  <a:schemeClr val="bg1"/>
                </a:solidFill>
                <a:sym typeface="+mn-ea"/>
              </a:rPr>
              <a:t>the query.</a:t>
            </a:r>
            <a:endParaRPr lang="en-US" altLang="en-US" b="1">
              <a:solidFill>
                <a:schemeClr val="bg1"/>
              </a:solidFill>
              <a:sym typeface="+mn-ea"/>
            </a:endParaRPr>
          </a:p>
          <a:p>
            <a:pPr algn="l"/>
            <a:r>
              <a:rPr lang="en-US" altLang="en-US" b="1">
                <a:solidFill>
                  <a:schemeClr val="bg1"/>
                </a:solidFill>
                <a:sym typeface="+mn-ea"/>
              </a:rPr>
              <a:t>3. </a:t>
            </a:r>
            <a:r>
              <a:rPr lang="en-US" altLang="en-US" b="1">
                <a:solidFill>
                  <a:schemeClr val="bg1"/>
                </a:solidFill>
              </a:rPr>
              <a:t>Searches the local SQLite database for:</a:t>
            </a:r>
            <a:endParaRPr lang="en-US" altLang="en-US" b="1">
              <a:solidFill>
                <a:schemeClr val="bg1"/>
              </a:solidFill>
            </a:endParaRPr>
          </a:p>
          <a:p>
            <a:pPr algn="l"/>
            <a:endParaRPr lang="en-US" altLang="en-US" b="1">
              <a:solidFill>
                <a:schemeClr val="bg1"/>
              </a:solidFill>
            </a:endParaRPr>
          </a:p>
          <a:p>
            <a:pPr algn="l"/>
            <a:r>
              <a:rPr lang="en-US" altLang="en-US" b="1">
                <a:solidFill>
                  <a:schemeClr val="bg1"/>
                </a:solidFill>
              </a:rPr>
              <a:t>    -&gt;sys_command table: If found, launches the application using os.startfile().</a:t>
            </a:r>
            <a:endParaRPr lang="en-US" altLang="en-US" b="1">
              <a:solidFill>
                <a:schemeClr val="bg1"/>
              </a:solidFill>
            </a:endParaRPr>
          </a:p>
          <a:p>
            <a:pPr algn="l"/>
            <a:r>
              <a:rPr lang="en-US" altLang="en-US" b="1">
                <a:solidFill>
                  <a:schemeClr val="bg1"/>
                </a:solidFill>
              </a:rPr>
              <a:t>    -&gt;web_command table: If not found in system, tries to open the URL in browser </a:t>
            </a:r>
            <a:endParaRPr lang="en-US" altLang="en-US" b="1">
              <a:solidFill>
                <a:schemeClr val="bg1"/>
              </a:solidFill>
            </a:endParaRPr>
          </a:p>
          <a:p>
            <a:pPr algn="l"/>
            <a:r>
              <a:rPr lang="en-US" altLang="en-US" b="1">
                <a:solidFill>
                  <a:schemeClr val="bg1"/>
                </a:solidFill>
              </a:rPr>
              <a:t>       </a:t>
            </a:r>
            <a:r>
              <a:rPr lang="en-US" altLang="en-US" b="1">
                <a:solidFill>
                  <a:schemeClr val="bg1"/>
                </a:solidFill>
                <a:sym typeface="+mn-ea"/>
              </a:rPr>
              <a:t>using webbrowser.open().</a:t>
            </a:r>
            <a:endParaRPr lang="en-US" altLang="en-US" b="1">
              <a:solidFill>
                <a:schemeClr val="bg1"/>
              </a:solidFill>
              <a:sym typeface="+mn-ea"/>
            </a:endParaRPr>
          </a:p>
          <a:p>
            <a:pPr algn="l"/>
            <a:endParaRPr lang="en-US" altLang="en-US" b="1">
              <a:solidFill>
                <a:schemeClr val="bg1"/>
              </a:solidFill>
              <a:sym typeface="+mn-ea"/>
            </a:endParaRPr>
          </a:p>
          <a:p>
            <a:pPr algn="l"/>
            <a:r>
              <a:rPr lang="en-US" altLang="en-US" b="1">
                <a:solidFill>
                  <a:schemeClr val="bg1"/>
                </a:solidFill>
                <a:sym typeface="+mn-ea"/>
              </a:rPr>
              <a:t>4. </a:t>
            </a:r>
            <a:r>
              <a:rPr lang="en-US" altLang="en-US" b="1">
                <a:solidFill>
                  <a:schemeClr val="bg1"/>
                </a:solidFill>
              </a:rPr>
              <a:t>Falls back to the system command line (os.system) if no matches are found in the </a:t>
            </a:r>
            <a:endParaRPr lang="en-US" altLang="en-US" b="1">
              <a:solidFill>
                <a:schemeClr val="bg1"/>
              </a:solidFill>
            </a:endParaRPr>
          </a:p>
          <a:p>
            <a:pPr algn="l"/>
            <a:r>
              <a:rPr lang="en-US" altLang="en-US" b="1">
                <a:solidFill>
                  <a:schemeClr val="bg1"/>
                </a:solidFill>
              </a:rPr>
              <a:t>    </a:t>
            </a:r>
            <a:r>
              <a:rPr lang="en-US" altLang="en-US" b="1">
                <a:solidFill>
                  <a:schemeClr val="bg1"/>
                </a:solidFill>
                <a:sym typeface="+mn-ea"/>
              </a:rPr>
              <a:t>database.</a:t>
            </a:r>
            <a:endParaRPr lang="en-US" altLang="en-US" b="1">
              <a:solidFill>
                <a:schemeClr val="bg1"/>
              </a:solidFill>
              <a:sym typeface="+mn-ea"/>
            </a:endParaRPr>
          </a:p>
          <a:p>
            <a:pPr algn="l"/>
            <a:endParaRPr lang="en-US" altLang="en-US" b="1">
              <a:solidFill>
                <a:schemeClr val="bg1"/>
              </a:solidFill>
            </a:endParaRPr>
          </a:p>
          <a:p>
            <a:pPr algn="l"/>
            <a:r>
              <a:rPr lang="en-US" altLang="en-US" b="1">
                <a:solidFill>
                  <a:schemeClr val="bg1"/>
                </a:solidFill>
              </a:rPr>
              <a:t>5. Includes robust error handling and uses pyttsx3 to provide voice feedback.</a:t>
            </a:r>
            <a:endParaRPr lang="en-US" altLang="en-US" b="1">
              <a:solidFill>
                <a:schemeClr val="bg1"/>
              </a:solidFill>
            </a:endParaRPr>
          </a:p>
          <a:p>
            <a:pPr algn="l"/>
            <a:endParaRPr lang="en-US" altLang="en-US" b="1">
              <a:solidFill>
                <a:schemeClr val="bg1"/>
              </a:solidFill>
            </a:endParaRPr>
          </a:p>
          <a:p>
            <a:pPr algn="l"/>
            <a:r>
              <a:rPr lang="en-US" altLang="en-US" b="1">
                <a:solidFill>
                  <a:schemeClr val="bg1"/>
                </a:solidFill>
              </a:rPr>
              <a:t>6. Also implemented YouTube search and playback with PlayYoutube() using </a:t>
            </a:r>
            <a:endParaRPr lang="en-US" altLang="en-US" b="1">
              <a:solidFill>
                <a:schemeClr val="bg1"/>
              </a:solidFill>
            </a:endParaRPr>
          </a:p>
          <a:p>
            <a:pPr algn="l"/>
            <a:r>
              <a:rPr lang="en-US" altLang="en-US" b="1">
                <a:solidFill>
                  <a:schemeClr val="bg1"/>
                </a:solidFill>
              </a:rPr>
              <a:t>    </a:t>
            </a:r>
            <a:r>
              <a:rPr lang="en-US" altLang="en-US" b="1">
                <a:solidFill>
                  <a:schemeClr val="bg1"/>
                </a:solidFill>
                <a:sym typeface="+mn-ea"/>
              </a:rPr>
              <a:t>pywhatkit</a:t>
            </a:r>
            <a:r>
              <a:rPr lang="en-US" altLang="en-US" b="1">
                <a:solidFill>
                  <a:schemeClr val="bg1"/>
                </a:solidFill>
              </a:rPr>
              <a:t>.</a:t>
            </a:r>
            <a:endParaRPr lang="en-US" altLang="en-US" b="1">
              <a:solidFill>
                <a:schemeClr val="bg1"/>
              </a:solidFill>
            </a:endParaRPr>
          </a:p>
          <a:p>
            <a:pPr algn="l"/>
            <a:endParaRPr lang="en-US" altLang="en-US" b="1">
              <a:solidFill>
                <a:schemeClr val="bg1"/>
              </a:solidFill>
            </a:endParaRPr>
          </a:p>
          <a:p>
            <a:pPr algn="l"/>
            <a:endParaRPr lang="en-US" altLang="en-US" b="1">
              <a:solidFill>
                <a:schemeClr val="bg1"/>
              </a:solidFill>
            </a:endParaRPr>
          </a:p>
          <a:p>
            <a:pPr algn="l"/>
            <a:endParaRPr lang="en-US" altLang="en-US" b="1">
              <a:solidFill>
                <a:schemeClr val="bg1"/>
              </a:solidFill>
            </a:endParaRPr>
          </a:p>
          <a:p>
            <a:pPr algn="l"/>
            <a:endParaRPr lang="en-US" altLang="en-US" b="1">
              <a:solidFill>
                <a:schemeClr val="bg1"/>
              </a:solidFill>
            </a:endParaRPr>
          </a:p>
          <a:p>
            <a:pPr algn="l"/>
            <a:endParaRPr lang="en-US" altLang="en-US" b="1">
              <a:solidFill>
                <a:schemeClr val="bg1"/>
              </a:solidFill>
            </a:endParaRPr>
          </a:p>
          <a:p>
            <a:pPr algn="l"/>
            <a:endParaRPr lang="en-US" altLang="en-US" b="1">
              <a:solidFill>
                <a:schemeClr val="bg1"/>
              </a:solidFill>
            </a:endParaRPr>
          </a:p>
          <a:p>
            <a:pPr algn="l"/>
            <a:endParaRPr lang="en-US" altLang="en-US"/>
          </a:p>
          <a:p>
            <a:pPr algn="l"/>
            <a:endParaRPr lang="en-US" altLang="en-US"/>
          </a:p>
          <a:p>
            <a:pPr algn="l"/>
            <a:endParaRPr lang="en-US" altLang="en-US"/>
          </a:p>
          <a:p>
            <a:pPr algn="l"/>
            <a:endParaRPr lang="en-US" altLang="en-US"/>
          </a:p>
          <a:p>
            <a:pPr algn="l"/>
            <a:endParaRPr lang="en-US" altLang="en-US"/>
          </a:p>
          <a:p>
            <a:pPr algn="l"/>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1"/>
          <a:srcRect l="14185" t="24529" r="26515" b="27426"/>
          <a:stretch>
            <a:fillRect/>
          </a:stretch>
        </p:blipFill>
        <p:spPr>
          <a:xfrm>
            <a:off x="0" y="0"/>
            <a:ext cx="9144000" cy="6858000"/>
          </a:xfrm>
          <a:prstGeom prst="rect">
            <a:avLst/>
          </a:prstGeom>
          <a:noFill/>
          <a:ln w="9525">
            <a:noFill/>
          </a:ln>
        </p:spPr>
      </p:pic>
      <p:sp>
        <p:nvSpPr>
          <p:cNvPr id="2" name="Text Box 1"/>
          <p:cNvSpPr txBox="1"/>
          <p:nvPr/>
        </p:nvSpPr>
        <p:spPr>
          <a:xfrm>
            <a:off x="2362835" y="220980"/>
            <a:ext cx="3964305" cy="521970"/>
          </a:xfrm>
          <a:prstGeom prst="rect">
            <a:avLst/>
          </a:prstGeom>
          <a:solidFill>
            <a:schemeClr val="tx1"/>
          </a:solidFill>
          <a:ln w="57150">
            <a:solidFill>
              <a:schemeClr val="bg1"/>
            </a:solidFill>
          </a:ln>
        </p:spPr>
        <p:txBody>
          <a:bodyPr wrap="square" rtlCol="0">
            <a:spAutoFit/>
          </a:bodyPr>
          <a:p>
            <a:pPr algn="ctr"/>
            <a:r>
              <a:rPr lang="en-US" altLang="en-US" sz="2800" b="1">
                <a:solidFill>
                  <a:schemeClr val="bg1"/>
                </a:solidFill>
              </a:rPr>
              <a:t>WhatsApp Automation</a:t>
            </a:r>
            <a:endParaRPr lang="en-US" altLang="en-US" sz="2800" b="1">
              <a:solidFill>
                <a:schemeClr val="bg1"/>
              </a:solidFill>
            </a:endParaRPr>
          </a:p>
        </p:txBody>
      </p:sp>
      <p:sp>
        <p:nvSpPr>
          <p:cNvPr id="4" name="Text Box 3"/>
          <p:cNvSpPr txBox="1"/>
          <p:nvPr/>
        </p:nvSpPr>
        <p:spPr>
          <a:xfrm>
            <a:off x="198120" y="975995"/>
            <a:ext cx="8728075" cy="5025390"/>
          </a:xfrm>
          <a:prstGeom prst="rect">
            <a:avLst/>
          </a:prstGeom>
          <a:solidFill>
            <a:schemeClr val="tx1"/>
          </a:solidFill>
          <a:ln w="57150">
            <a:solidFill>
              <a:schemeClr val="bg1"/>
            </a:solidFill>
          </a:ln>
        </p:spPr>
        <p:txBody>
          <a:bodyPr wrap="square" rtlCol="0">
            <a:noAutofit/>
          </a:bodyPr>
          <a:p>
            <a:pPr algn="l"/>
            <a:r>
              <a:rPr lang="en-US" altLang="en-US" sz="1800" b="1">
                <a:solidFill>
                  <a:schemeClr val="bg1"/>
                </a:solidFill>
              </a:rPr>
              <a:t>1. Developed a powerful feature that allows the assistant to send WhatsApp messages, </a:t>
            </a:r>
            <a:endParaRPr lang="en-US" altLang="en-US" sz="1800" b="1">
              <a:solidFill>
                <a:schemeClr val="bg1"/>
              </a:solidFill>
            </a:endParaRPr>
          </a:p>
          <a:p>
            <a:pPr algn="l"/>
            <a:r>
              <a:rPr lang="en-US" altLang="en-US" sz="1800" b="1">
                <a:solidFill>
                  <a:schemeClr val="bg1"/>
                </a:solidFill>
              </a:rPr>
              <a:t>    </a:t>
            </a:r>
            <a:r>
              <a:rPr lang="en-US" altLang="en-US" sz="1800" b="1">
                <a:solidFill>
                  <a:schemeClr val="bg1"/>
                </a:solidFill>
                <a:sym typeface="+mn-ea"/>
              </a:rPr>
              <a:t>make calls, and initiate video calls through voice input.</a:t>
            </a:r>
            <a:endParaRPr lang="en-US" altLang="en-US" sz="1800" b="1">
              <a:solidFill>
                <a:schemeClr val="bg1"/>
              </a:solidFill>
              <a:sym typeface="+mn-ea"/>
            </a:endParaRPr>
          </a:p>
          <a:p>
            <a:pPr algn="l"/>
            <a:endParaRPr lang="en-US" altLang="en-US" sz="1800" b="1">
              <a:solidFill>
                <a:schemeClr val="bg1"/>
              </a:solidFill>
              <a:sym typeface="+mn-ea"/>
            </a:endParaRPr>
          </a:p>
          <a:p>
            <a:pPr algn="l"/>
            <a:r>
              <a:rPr lang="en-US" altLang="en-US" sz="1800" b="1">
                <a:solidFill>
                  <a:schemeClr val="bg1"/>
                </a:solidFill>
              </a:rPr>
              <a:t>2. findContact(query): (Function)</a:t>
            </a:r>
            <a:endParaRPr lang="en-US" altLang="en-US" sz="1800" b="1">
              <a:solidFill>
                <a:schemeClr val="bg1"/>
              </a:solidFill>
            </a:endParaRPr>
          </a:p>
          <a:p>
            <a:pPr algn="l"/>
            <a:r>
              <a:rPr lang="en-US" altLang="en-US" sz="1800" b="1">
                <a:solidFill>
                  <a:schemeClr val="bg1"/>
                </a:solidFill>
              </a:rPr>
              <a:t>    -&gt;Extracts and cleans the contact name from the voice query using regex.</a:t>
            </a:r>
            <a:endParaRPr lang="en-US" altLang="en-US" sz="1800" b="1">
              <a:solidFill>
                <a:schemeClr val="bg1"/>
              </a:solidFill>
            </a:endParaRPr>
          </a:p>
          <a:p>
            <a:pPr algn="l"/>
            <a:r>
              <a:rPr lang="en-US" altLang="en-US" sz="1800" b="1">
                <a:solidFill>
                  <a:schemeClr val="bg1"/>
                </a:solidFill>
              </a:rPr>
              <a:t>    -&gt;Searches the SQLite contact database using partial match queries (LIKE) to retrieve </a:t>
            </a:r>
            <a:endParaRPr lang="en-US" altLang="en-US" sz="1800" b="1">
              <a:solidFill>
                <a:schemeClr val="bg1"/>
              </a:solidFill>
            </a:endParaRPr>
          </a:p>
          <a:p>
            <a:pPr algn="l"/>
            <a:r>
              <a:rPr lang="en-US" altLang="en-US" sz="1800" b="1">
                <a:solidFill>
                  <a:schemeClr val="bg1"/>
                </a:solidFill>
              </a:rPr>
              <a:t>       </a:t>
            </a:r>
            <a:r>
              <a:rPr lang="en-US" altLang="en-US" sz="1800" b="1">
                <a:solidFill>
                  <a:schemeClr val="bg1"/>
                </a:solidFill>
                <a:sym typeface="+mn-ea"/>
              </a:rPr>
              <a:t>contact details.</a:t>
            </a:r>
            <a:endParaRPr lang="en-US" altLang="en-US" sz="1800" b="1">
              <a:solidFill>
                <a:schemeClr val="bg1"/>
              </a:solidFill>
              <a:sym typeface="+mn-ea"/>
            </a:endParaRPr>
          </a:p>
          <a:p>
            <a:pPr algn="l"/>
            <a:endParaRPr lang="en-US" altLang="en-US" sz="1800" b="1">
              <a:solidFill>
                <a:schemeClr val="bg1"/>
              </a:solidFill>
              <a:sym typeface="+mn-ea"/>
            </a:endParaRPr>
          </a:p>
          <a:p>
            <a:pPr algn="l"/>
            <a:r>
              <a:rPr lang="en-US" altLang="en-US" sz="1800" b="1">
                <a:solidFill>
                  <a:schemeClr val="bg1"/>
                </a:solidFill>
                <a:sym typeface="+mn-ea"/>
              </a:rPr>
              <a:t>3. </a:t>
            </a:r>
            <a:r>
              <a:rPr lang="en-US" altLang="en-US" sz="1800" b="1">
                <a:solidFill>
                  <a:schemeClr val="bg1"/>
                </a:solidFill>
              </a:rPr>
              <a:t>whatsApp():(Function)</a:t>
            </a:r>
            <a:endParaRPr lang="en-US" altLang="en-US" sz="1800" b="1">
              <a:solidFill>
                <a:schemeClr val="bg1"/>
              </a:solidFill>
            </a:endParaRPr>
          </a:p>
          <a:p>
            <a:pPr algn="l"/>
            <a:r>
              <a:rPr lang="en-US" altLang="en-US" sz="1800" b="1">
                <a:solidFill>
                  <a:schemeClr val="bg1"/>
                </a:solidFill>
              </a:rPr>
              <a:t>   -&gt;Determines the user’s intent (message, call, video call) from the query.</a:t>
            </a:r>
            <a:endParaRPr lang="en-US" altLang="en-US" sz="1800" b="1">
              <a:solidFill>
                <a:schemeClr val="bg1"/>
              </a:solidFill>
            </a:endParaRPr>
          </a:p>
          <a:p>
            <a:pPr algn="l"/>
            <a:r>
              <a:rPr lang="en-US" altLang="en-US" sz="1800" b="1">
                <a:solidFill>
                  <a:schemeClr val="bg1"/>
                </a:solidFill>
              </a:rPr>
              <a:t>   -&gt;Constructs a WhatsApp deep link using the contact’s number and message.</a:t>
            </a:r>
            <a:endParaRPr lang="en-US" altLang="en-US" sz="1800" b="1">
              <a:solidFill>
                <a:schemeClr val="bg1"/>
              </a:solidFill>
            </a:endParaRPr>
          </a:p>
          <a:p>
            <a:pPr algn="l"/>
            <a:r>
              <a:rPr lang="en-US" altLang="en-US" sz="1800" b="1">
                <a:solidFill>
                  <a:schemeClr val="bg1"/>
                </a:solidFill>
              </a:rPr>
              <a:t>   -&gt;Uses subprocess to open WhatsApp via URL scheme (whatsapp://send).</a:t>
            </a:r>
            <a:endParaRPr lang="en-US" altLang="en-US" sz="1800" b="1">
              <a:solidFill>
                <a:schemeClr val="bg1"/>
              </a:solidFill>
            </a:endParaRPr>
          </a:p>
          <a:p>
            <a:pPr algn="l"/>
            <a:r>
              <a:rPr lang="en-US" altLang="en-US" sz="1800" b="1">
                <a:solidFill>
                  <a:schemeClr val="bg1"/>
                </a:solidFill>
              </a:rPr>
              <a:t>   -&gt;Automates interface interaction using pyautogui (keyboard shortcuts and tab </a:t>
            </a:r>
            <a:endParaRPr lang="en-US" altLang="en-US" sz="1800" b="1">
              <a:solidFill>
                <a:schemeClr val="bg1"/>
              </a:solidFill>
            </a:endParaRPr>
          </a:p>
          <a:p>
            <a:pPr algn="l"/>
            <a:r>
              <a:rPr lang="en-US" altLang="en-US" sz="1800" b="1">
                <a:solidFill>
                  <a:schemeClr val="bg1"/>
                </a:solidFill>
              </a:rPr>
              <a:t>      </a:t>
            </a:r>
            <a:r>
              <a:rPr lang="en-US" altLang="en-US" sz="1800" b="1">
                <a:solidFill>
                  <a:schemeClr val="bg1"/>
                </a:solidFill>
                <a:sym typeface="+mn-ea"/>
              </a:rPr>
              <a:t>navigation).</a:t>
            </a:r>
            <a:endParaRPr lang="en-US" altLang="en-US" sz="1800" b="1">
              <a:solidFill>
                <a:schemeClr val="bg1"/>
              </a:solidFill>
            </a:endParaRPr>
          </a:p>
          <a:p>
            <a:pPr algn="l"/>
            <a:r>
              <a:rPr lang="en-US" altLang="en-US" sz="1800" b="1">
                <a:solidFill>
                  <a:schemeClr val="bg1"/>
                </a:solidFill>
              </a:rPr>
              <a:t>    -&gt;Encodes and sends the typed message or triggers the appropriate call action.</a:t>
            </a:r>
            <a:endParaRPr lang="en-US" altLang="en-US" sz="1800" b="1">
              <a:solidFill>
                <a:schemeClr val="bg1"/>
              </a:solidFill>
            </a:endParaRPr>
          </a:p>
          <a:p>
            <a:pPr algn="l"/>
            <a:endParaRPr lang="en-US" altLang="en-US" sz="1800" b="1">
              <a:solidFill>
                <a:schemeClr val="bg1"/>
              </a:solidFill>
            </a:endParaRPr>
          </a:p>
          <a:p>
            <a:pPr algn="l"/>
            <a:endParaRPr lang="en-US" altLang="en-US" sz="1800" b="1">
              <a:solidFill>
                <a:schemeClr val="bg1"/>
              </a:solidFill>
            </a:endParaRPr>
          </a:p>
          <a:p>
            <a:pPr algn="l"/>
            <a:endParaRPr lang="en-US" altLang="en-US" sz="1800" b="1">
              <a:solidFill>
                <a:schemeClr val="bg1"/>
              </a:solidFill>
            </a:endParaRPr>
          </a:p>
          <a:p>
            <a:pPr algn="l"/>
            <a:endParaRPr lang="en-US" altLang="en-US" sz="1800" b="1">
              <a:solidFill>
                <a:schemeClr val="bg1"/>
              </a:solidFill>
            </a:endParaRPr>
          </a:p>
          <a:p>
            <a:pPr algn="l"/>
            <a:endParaRPr lang="en-US" altLang="en-US" sz="1800" b="1">
              <a:solidFill>
                <a:schemeClr val="bg1"/>
              </a:solidFill>
            </a:endParaRPr>
          </a:p>
          <a:p>
            <a:pPr algn="l"/>
            <a:endParaRPr lang="en-US" altLang="en-US" sz="1800" b="1">
              <a:solidFill>
                <a:schemeClr val="bg1"/>
              </a:solidFill>
            </a:endParaRPr>
          </a:p>
          <a:p>
            <a:pPr algn="l"/>
            <a:endParaRPr lang="en-US" altLang="en-US" sz="1800" b="1">
              <a:solidFill>
                <a:schemeClr val="bg1"/>
              </a:solidFill>
            </a:endParaRPr>
          </a:p>
          <a:p>
            <a:pPr algn="l"/>
            <a:endParaRPr lang="en-US" altLang="en-US" sz="1800" b="1">
              <a:solidFill>
                <a:schemeClr val="bg1"/>
              </a:solidFill>
            </a:endParaRPr>
          </a:p>
          <a:p>
            <a:pPr algn="l"/>
            <a:endParaRPr lang="en-US" altLang="en-US" sz="1800" b="1">
              <a:solidFill>
                <a:schemeClr val="bg1"/>
              </a:solidFill>
            </a:endParaRPr>
          </a:p>
          <a:p>
            <a:pPr algn="l"/>
            <a:endParaRPr lang="en-US" altLang="en-US" sz="1800" b="1">
              <a:solidFill>
                <a:schemeClr val="bg1"/>
              </a:solidFill>
            </a:endParaRPr>
          </a:p>
          <a:p>
            <a:pPr algn="l"/>
            <a:endParaRPr lang="en-US" altLang="en-US" sz="1800" b="1">
              <a:solidFill>
                <a:schemeClr val="bg1"/>
              </a:solidFill>
            </a:endParaRPr>
          </a:p>
          <a:p>
            <a:pPr algn="l"/>
            <a:endParaRPr lang="en-US" altLang="en-US" sz="1800" b="1">
              <a:solidFill>
                <a:schemeClr val="bg1"/>
              </a:solidFill>
            </a:endParaRPr>
          </a:p>
          <a:p>
            <a:pPr algn="l"/>
            <a:endParaRPr lang="en-US" altLang="en-US" sz="1800" b="1">
              <a:solidFill>
                <a:schemeClr val="bg1"/>
              </a:solidFill>
            </a:endParaRPr>
          </a:p>
          <a:p>
            <a:pPr algn="l"/>
            <a:endParaRPr lang="en-US" altLang="en-US" sz="1800" b="1">
              <a:solidFill>
                <a:schemeClr val="bg1"/>
              </a:solidFill>
            </a:endParaRPr>
          </a:p>
          <a:p>
            <a:pPr algn="l"/>
            <a:endParaRPr lang="en-US" altLang="en-US" sz="1800" b="1">
              <a:solidFill>
                <a:schemeClr val="bg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1"/>
          <a:srcRect l="14185" t="24529" r="26515" b="27426"/>
          <a:stretch>
            <a:fillRect/>
          </a:stretch>
        </p:blipFill>
        <p:spPr>
          <a:xfrm>
            <a:off x="0" y="0"/>
            <a:ext cx="9144000" cy="6858000"/>
          </a:xfrm>
          <a:prstGeom prst="rect">
            <a:avLst/>
          </a:prstGeom>
          <a:noFill/>
          <a:ln w="9525">
            <a:noFill/>
          </a:ln>
        </p:spPr>
      </p:pic>
      <p:sp>
        <p:nvSpPr>
          <p:cNvPr id="2" name="Text Box 1"/>
          <p:cNvSpPr txBox="1"/>
          <p:nvPr/>
        </p:nvSpPr>
        <p:spPr>
          <a:xfrm>
            <a:off x="2531745" y="471805"/>
            <a:ext cx="4080510" cy="645160"/>
          </a:xfrm>
          <a:prstGeom prst="rect">
            <a:avLst/>
          </a:prstGeom>
          <a:noFill/>
        </p:spPr>
        <p:txBody>
          <a:bodyPr wrap="square" rtlCol="0">
            <a:spAutoFit/>
          </a:bodyPr>
          <a:p>
            <a:pPr algn="ctr"/>
            <a:r>
              <a:rPr lang="en-US" sz="3600" b="1">
                <a:solidFill>
                  <a:schemeClr val="bg1"/>
                </a:solidFill>
                <a:highlight>
                  <a:srgbClr val="000000"/>
                </a:highlight>
              </a:rPr>
              <a:t>Mobile Automation</a:t>
            </a:r>
            <a:endParaRPr lang="en-US" sz="3600" b="1">
              <a:solidFill>
                <a:schemeClr val="bg1"/>
              </a:solidFill>
              <a:highlight>
                <a:srgbClr val="000000"/>
              </a:highlight>
            </a:endParaRPr>
          </a:p>
        </p:txBody>
      </p:sp>
      <p:sp>
        <p:nvSpPr>
          <p:cNvPr id="3" name="Text Box 2"/>
          <p:cNvSpPr txBox="1"/>
          <p:nvPr/>
        </p:nvSpPr>
        <p:spPr>
          <a:xfrm>
            <a:off x="307975" y="1812925"/>
            <a:ext cx="8479155" cy="4737735"/>
          </a:xfrm>
          <a:prstGeom prst="rect">
            <a:avLst/>
          </a:prstGeom>
          <a:solidFill>
            <a:schemeClr val="accent6"/>
          </a:solidFill>
        </p:spPr>
        <p:txBody>
          <a:bodyPr wrap="square" rtlCol="0">
            <a:noAutofit/>
          </a:bodyPr>
          <a:p>
            <a:r>
              <a:rPr lang="en-US" b="1">
                <a:solidFill>
                  <a:schemeClr val="bg1"/>
                </a:solidFill>
              </a:rPr>
              <a:t>1. </a:t>
            </a:r>
            <a:r>
              <a:rPr lang="en-US" altLang="en-US" b="1">
                <a:solidFill>
                  <a:schemeClr val="bg1"/>
                </a:solidFill>
              </a:rPr>
              <a:t>Implemented a feature to initiate mobile phone calls using the Android Debug Bridge </a:t>
            </a:r>
            <a:endParaRPr lang="en-US" altLang="en-US" b="1">
              <a:solidFill>
                <a:schemeClr val="bg1"/>
              </a:solidFill>
            </a:endParaRPr>
          </a:p>
          <a:p>
            <a:r>
              <a:rPr lang="en-US" altLang="en-US" b="1">
                <a:solidFill>
                  <a:schemeClr val="bg1"/>
                </a:solidFill>
              </a:rPr>
              <a:t>    </a:t>
            </a:r>
            <a:r>
              <a:rPr lang="en-US" altLang="en-US" b="1">
                <a:solidFill>
                  <a:schemeClr val="bg1"/>
                </a:solidFill>
                <a:sym typeface="+mn-ea"/>
              </a:rPr>
              <a:t>(ADB).</a:t>
            </a:r>
            <a:endParaRPr lang="en-US" altLang="en-US" b="1">
              <a:solidFill>
                <a:schemeClr val="bg1"/>
              </a:solidFill>
              <a:sym typeface="+mn-ea"/>
            </a:endParaRPr>
          </a:p>
          <a:p>
            <a:endParaRPr lang="en-US" altLang="en-US" b="1">
              <a:solidFill>
                <a:schemeClr val="bg1"/>
              </a:solidFill>
              <a:sym typeface="+mn-ea"/>
            </a:endParaRPr>
          </a:p>
          <a:p>
            <a:r>
              <a:rPr lang="en-US" altLang="en-US" b="1">
                <a:solidFill>
                  <a:schemeClr val="bg1"/>
                </a:solidFill>
                <a:sym typeface="+mn-ea"/>
              </a:rPr>
              <a:t>2. </a:t>
            </a:r>
            <a:r>
              <a:rPr lang="en-US" altLang="en-US" b="1">
                <a:solidFill>
                  <a:schemeClr val="bg1"/>
                </a:solidFill>
              </a:rPr>
              <a:t>Function: makeCall(name, mobileNo)</a:t>
            </a:r>
            <a:endParaRPr lang="en-US" altLang="en-US" b="1">
              <a:solidFill>
                <a:schemeClr val="bg1"/>
              </a:solidFill>
            </a:endParaRPr>
          </a:p>
          <a:p>
            <a:r>
              <a:rPr lang="en-US" altLang="en-US" b="1">
                <a:solidFill>
                  <a:schemeClr val="bg1"/>
                </a:solidFill>
              </a:rPr>
              <a:t>    -&gt;Cleans the mobile number to ensure compatibility with dial command.</a:t>
            </a:r>
            <a:endParaRPr lang="en-US" altLang="en-US" b="1">
              <a:solidFill>
                <a:schemeClr val="bg1"/>
              </a:solidFill>
            </a:endParaRPr>
          </a:p>
          <a:p>
            <a:r>
              <a:rPr lang="en-US" altLang="en-US" b="1">
                <a:solidFill>
                  <a:schemeClr val="bg1"/>
                </a:solidFill>
              </a:rPr>
              <a:t>    -&gt;Uses adb command-line tool to trigger the phone's dialer remotely.</a:t>
            </a:r>
            <a:endParaRPr lang="en-US" altLang="en-US" b="1">
              <a:solidFill>
                <a:schemeClr val="bg1"/>
              </a:solidFill>
            </a:endParaRPr>
          </a:p>
          <a:p>
            <a:r>
              <a:rPr lang="en-US" altLang="en-US" b="1">
                <a:solidFill>
                  <a:schemeClr val="bg1"/>
                </a:solidFill>
              </a:rPr>
              <a:t>    -&gt;Executes the shell command:</a:t>
            </a:r>
            <a:endParaRPr lang="en-US" altLang="en-US" b="1">
              <a:solidFill>
                <a:schemeClr val="bg1"/>
              </a:solidFill>
            </a:endParaRPr>
          </a:p>
          <a:p>
            <a:r>
              <a:rPr lang="en-US" altLang="en-US" b="1">
                <a:solidFill>
                  <a:schemeClr val="bg1"/>
                </a:solidFill>
              </a:rPr>
              <a:t>        Shell command:</a:t>
            </a:r>
            <a:endParaRPr lang="en-US" altLang="en-US" b="1">
              <a:solidFill>
                <a:schemeClr val="bg1"/>
              </a:solidFill>
            </a:endParaRPr>
          </a:p>
          <a:p>
            <a:r>
              <a:rPr lang="en-US" altLang="en-US" b="1">
                <a:solidFill>
                  <a:schemeClr val="bg1"/>
                </a:solidFill>
              </a:rPr>
              <a:t>        </a:t>
            </a:r>
            <a:r>
              <a:rPr lang="en-US" altLang="en-US" sz="1600" b="1">
                <a:solidFill>
                  <a:schemeClr val="bg1"/>
                </a:solidFill>
              </a:rPr>
              <a:t>adb -s &lt;device_ip&gt;:5555 shell am start -a android.intent.action.DIAL -d tel:&lt;number&gt;</a:t>
            </a:r>
            <a:endParaRPr lang="en-US" altLang="en-US" sz="1600" b="1">
              <a:solidFill>
                <a:schemeClr val="bg1"/>
              </a:solidFill>
            </a:endParaRPr>
          </a:p>
          <a:p>
            <a:endParaRPr lang="en-US" altLang="en-US" sz="1600" b="1">
              <a:solidFill>
                <a:schemeClr val="bg1"/>
              </a:solidFill>
            </a:endParaRPr>
          </a:p>
          <a:p>
            <a:r>
              <a:rPr lang="en-US" altLang="en-US" sz="1800" b="1">
                <a:solidFill>
                  <a:schemeClr val="bg1"/>
                </a:solidFill>
              </a:rPr>
              <a:t>3. </a:t>
            </a:r>
            <a:r>
              <a:rPr lang="en-US" altLang="en-US" b="1">
                <a:solidFill>
                  <a:schemeClr val="bg1"/>
                </a:solidFill>
              </a:rPr>
              <a:t>Enables remote calling on a connected Android device over Wi-Fi (TCP/IP).</a:t>
            </a:r>
            <a:endParaRPr lang="en-US" altLang="en-US" b="1">
              <a:solidFill>
                <a:schemeClr val="bg1"/>
              </a:solidFill>
            </a:endParaRPr>
          </a:p>
          <a:p>
            <a:endParaRPr lang="en-US" altLang="en-US" b="1">
              <a:solidFill>
                <a:schemeClr val="bg1"/>
              </a:solidFill>
            </a:endParaRPr>
          </a:p>
          <a:p>
            <a:r>
              <a:rPr lang="en-US" altLang="en-US" b="1">
                <a:solidFill>
                  <a:schemeClr val="bg1"/>
                </a:solidFill>
              </a:rPr>
              <a:t>4. Assistant provides voice feedback like “Calling [name]” using pyttsx3.</a:t>
            </a:r>
            <a:endParaRPr lang="en-US" altLang="en-US" b="1">
              <a:solidFill>
                <a:schemeClr val="bg1"/>
              </a:solidFill>
            </a:endParaRPr>
          </a:p>
          <a:p>
            <a:endParaRPr lang="en-US" altLang="en-US" b="1">
              <a:solidFill>
                <a:schemeClr val="bg1"/>
              </a:solidFill>
            </a:endParaRPr>
          </a:p>
          <a:p>
            <a:r>
              <a:rPr lang="en-US" altLang="en-US" b="1">
                <a:solidFill>
                  <a:schemeClr val="bg1"/>
                </a:solidFill>
              </a:rPr>
              <a:t>5. This feature demonstrates real-world hardware interaction and opens the door to </a:t>
            </a:r>
            <a:endParaRPr lang="en-US" altLang="en-US" b="1">
              <a:solidFill>
                <a:schemeClr val="bg1"/>
              </a:solidFill>
            </a:endParaRPr>
          </a:p>
          <a:p>
            <a:r>
              <a:rPr lang="en-US" altLang="en-US" b="1">
                <a:solidFill>
                  <a:schemeClr val="bg1"/>
                </a:solidFill>
              </a:rPr>
              <a:t>    </a:t>
            </a:r>
            <a:r>
              <a:rPr lang="en-US" altLang="en-US" b="1">
                <a:solidFill>
                  <a:schemeClr val="bg1"/>
                </a:solidFill>
                <a:sym typeface="+mn-ea"/>
              </a:rPr>
              <a:t>future mobile automation like messaging or app launching.</a:t>
            </a:r>
            <a:endParaRPr lang="en-US" altLang="en-US" b="1">
              <a:solidFill>
                <a:schemeClr val="bg1"/>
              </a:solidFill>
            </a:endParaRPr>
          </a:p>
          <a:p>
            <a:endParaRPr lang="en-US" altLang="en-US" b="1">
              <a:solidFill>
                <a:schemeClr val="bg1"/>
              </a:solidFill>
            </a:endParaRPr>
          </a:p>
          <a:p>
            <a:endParaRPr lang="en-US" altLang="en-US" b="1">
              <a:solidFill>
                <a:schemeClr val="bg1"/>
              </a:solidFill>
            </a:endParaRPr>
          </a:p>
          <a:p>
            <a:endParaRPr lang="en-US" altLang="en-US" b="1">
              <a:solidFill>
                <a:schemeClr val="bg1"/>
              </a:solidFill>
            </a:endParaRPr>
          </a:p>
          <a:p>
            <a:endParaRPr lang="en-US" altLang="en-US" b="1">
              <a:solidFill>
                <a:schemeClr val="bg1"/>
              </a:solidFill>
            </a:endParaRPr>
          </a:p>
          <a:p>
            <a:endParaRPr lang="en-US" altLang="en-US" b="1">
              <a:solidFill>
                <a:schemeClr val="bg1"/>
              </a:solidFill>
            </a:endParaRPr>
          </a:p>
          <a:p>
            <a:endParaRPr lang="en-US" altLang="en-US" b="1">
              <a:solidFill>
                <a:schemeClr val="bg1"/>
              </a:solidFill>
            </a:endParaRPr>
          </a:p>
          <a:p>
            <a:endParaRPr lang="en-US" altLang="en-US" b="1">
              <a:solidFill>
                <a:schemeClr val="bg1"/>
              </a:solidFill>
            </a:endParaRPr>
          </a:p>
          <a:p>
            <a:endParaRPr lang="en-US" altLang="en-US" b="1">
              <a:solidFill>
                <a:schemeClr val="bg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1"/>
          <a:srcRect l="14185" t="24529" r="26515" b="27426"/>
          <a:stretch>
            <a:fillRect/>
          </a:stretch>
        </p:blipFill>
        <p:spPr>
          <a:xfrm>
            <a:off x="0" y="0"/>
            <a:ext cx="9144000" cy="6858000"/>
          </a:xfrm>
          <a:prstGeom prst="rect">
            <a:avLst/>
          </a:prstGeom>
          <a:noFill/>
          <a:ln w="9525">
            <a:noFill/>
          </a:ln>
        </p:spPr>
      </p:pic>
      <p:sp>
        <p:nvSpPr>
          <p:cNvPr id="4" name="Text Box 3"/>
          <p:cNvSpPr txBox="1"/>
          <p:nvPr/>
        </p:nvSpPr>
        <p:spPr>
          <a:xfrm>
            <a:off x="2763520" y="105410"/>
            <a:ext cx="3616960" cy="625475"/>
          </a:xfrm>
          <a:prstGeom prst="rect">
            <a:avLst/>
          </a:prstGeom>
          <a:noFill/>
        </p:spPr>
        <p:txBody>
          <a:bodyPr wrap="square" rtlCol="0">
            <a:noAutofit/>
          </a:bodyPr>
          <a:p>
            <a:pPr algn="ctr"/>
            <a:r>
              <a:rPr lang="en-US" altLang="en-US" sz="3600" b="1">
                <a:solidFill>
                  <a:srgbClr val="FFFF00"/>
                </a:solidFill>
                <a:highlight>
                  <a:srgbClr val="00FF00"/>
                </a:highlight>
              </a:rPr>
              <a:t>Challenges Faced</a:t>
            </a:r>
            <a:endParaRPr lang="en-US" altLang="en-US" sz="3600" b="1">
              <a:solidFill>
                <a:srgbClr val="FFFF00"/>
              </a:solidFill>
              <a:highlight>
                <a:srgbClr val="00FF00"/>
              </a:highlight>
            </a:endParaRPr>
          </a:p>
        </p:txBody>
      </p:sp>
      <p:sp>
        <p:nvSpPr>
          <p:cNvPr id="5" name="Text Box 4"/>
          <p:cNvSpPr txBox="1"/>
          <p:nvPr/>
        </p:nvSpPr>
        <p:spPr>
          <a:xfrm>
            <a:off x="337820" y="800100"/>
            <a:ext cx="8390890" cy="5902960"/>
          </a:xfrm>
          <a:prstGeom prst="rect">
            <a:avLst/>
          </a:prstGeom>
          <a:solidFill>
            <a:schemeClr val="bg1"/>
          </a:solidFill>
        </p:spPr>
        <p:txBody>
          <a:bodyPr wrap="square" rtlCol="0">
            <a:noAutofit/>
          </a:bodyPr>
          <a:p>
            <a:r>
              <a:rPr lang="en-US" b="1"/>
              <a:t>1. </a:t>
            </a:r>
            <a:r>
              <a:rPr lang="zh-CN" altLang="en-US" b="1">
                <a:solidFill>
                  <a:srgbClr val="FF0000"/>
                </a:solidFill>
              </a:rPr>
              <a:t>🔧</a:t>
            </a:r>
            <a:r>
              <a:rPr lang="en-US" altLang="en-US" b="1">
                <a:solidFill>
                  <a:srgbClr val="FF0000"/>
                </a:solidFill>
              </a:rPr>
              <a:t> </a:t>
            </a:r>
            <a:r>
              <a:rPr lang="en-US" altLang="en-US" b="1"/>
              <a:t> Backend &amp; Frontend Integration</a:t>
            </a:r>
            <a:endParaRPr lang="en-US" altLang="en-US" b="1"/>
          </a:p>
          <a:p>
            <a:r>
              <a:rPr lang="en-US" altLang="en-US" b="1"/>
              <a:t>    </a:t>
            </a:r>
            <a:r>
              <a:rPr lang="en-US" altLang="en-US" b="1">
                <a:solidFill>
                  <a:schemeClr val="accent5">
                    <a:lumMod val="75000"/>
                  </a:schemeClr>
                </a:solidFill>
              </a:rPr>
              <a:t>Ensuring smooth communication between Python backend and HTML/JS frontend </a:t>
            </a:r>
            <a:endParaRPr lang="en-US" altLang="en-US" b="1">
              <a:solidFill>
                <a:schemeClr val="accent5">
                  <a:lumMod val="75000"/>
                </a:schemeClr>
              </a:solidFill>
            </a:endParaRPr>
          </a:p>
          <a:p>
            <a:r>
              <a:rPr lang="en-US" altLang="en-US" b="1">
                <a:solidFill>
                  <a:schemeClr val="accent5">
                    <a:lumMod val="75000"/>
                  </a:schemeClr>
                </a:solidFill>
              </a:rPr>
              <a:t>    </a:t>
            </a:r>
            <a:r>
              <a:rPr lang="en-US" altLang="en-US" b="1">
                <a:solidFill>
                  <a:schemeClr val="accent5">
                    <a:lumMod val="75000"/>
                  </a:schemeClr>
                </a:solidFill>
                <a:sym typeface="+mn-ea"/>
              </a:rPr>
              <a:t>using the Eel library.</a:t>
            </a:r>
            <a:endParaRPr lang="en-US" altLang="en-US" b="1">
              <a:solidFill>
                <a:schemeClr val="accent5">
                  <a:lumMod val="75000"/>
                </a:schemeClr>
              </a:solidFill>
              <a:sym typeface="+mn-ea"/>
            </a:endParaRPr>
          </a:p>
          <a:p>
            <a:r>
              <a:rPr lang="en-US" altLang="en-US" b="1">
                <a:sym typeface="+mn-ea"/>
              </a:rPr>
              <a:t>2. </a:t>
            </a:r>
            <a:r>
              <a:rPr lang="zh-CN" altLang="en-US" b="1">
                <a:solidFill>
                  <a:srgbClr val="00F9FB"/>
                </a:solidFill>
              </a:rPr>
              <a:t>🗣</a:t>
            </a:r>
            <a:r>
              <a:rPr lang="en-US" altLang="en-US" b="1"/>
              <a:t>️</a:t>
            </a:r>
            <a:r>
              <a:rPr lang="en-US" altLang="en-US" b="1"/>
              <a:t> Speech Recognition Accuracy</a:t>
            </a:r>
            <a:endParaRPr lang="en-US" altLang="en-US" b="1"/>
          </a:p>
          <a:p>
            <a:r>
              <a:rPr lang="en-US" altLang="en-US" b="1"/>
              <a:t>    </a:t>
            </a:r>
            <a:r>
              <a:rPr lang="en-US" altLang="en-US" b="1">
                <a:solidFill>
                  <a:schemeClr val="accent5">
                    <a:lumMod val="75000"/>
                  </a:schemeClr>
                </a:solidFill>
              </a:rPr>
              <a:t>Difficulty in recognizing accents, background noise interference, and handling </a:t>
            </a:r>
            <a:endParaRPr lang="en-US" altLang="en-US" b="1">
              <a:solidFill>
                <a:schemeClr val="accent5">
                  <a:lumMod val="75000"/>
                </a:schemeClr>
              </a:solidFill>
            </a:endParaRPr>
          </a:p>
          <a:p>
            <a:r>
              <a:rPr lang="en-US" altLang="en-US" b="1">
                <a:solidFill>
                  <a:schemeClr val="accent5">
                    <a:lumMod val="75000"/>
                  </a:schemeClr>
                </a:solidFill>
              </a:rPr>
              <a:t>    </a:t>
            </a:r>
            <a:r>
              <a:rPr lang="en-US" altLang="en-US" b="1">
                <a:solidFill>
                  <a:schemeClr val="accent5">
                    <a:lumMod val="75000"/>
                  </a:schemeClr>
                </a:solidFill>
                <a:sym typeface="+mn-ea"/>
              </a:rPr>
              <a:t>misinterpretations of spoken commands.</a:t>
            </a:r>
            <a:endParaRPr lang="en-US" altLang="en-US" b="1">
              <a:solidFill>
                <a:schemeClr val="accent5">
                  <a:lumMod val="75000"/>
                </a:schemeClr>
              </a:solidFill>
              <a:sym typeface="+mn-ea"/>
            </a:endParaRPr>
          </a:p>
          <a:p>
            <a:r>
              <a:rPr lang="en-US" altLang="en-US" b="1">
                <a:sym typeface="+mn-ea"/>
              </a:rPr>
              <a:t>3. </a:t>
            </a:r>
            <a:r>
              <a:rPr lang="zh-CN" altLang="en-US" b="1">
                <a:solidFill>
                  <a:schemeClr val="accent2"/>
                </a:solidFill>
              </a:rPr>
              <a:t>🔒</a:t>
            </a:r>
            <a:r>
              <a:rPr lang="en-US" altLang="en-US" b="1"/>
              <a:t>  Handling API Sessions</a:t>
            </a:r>
            <a:endParaRPr lang="en-US" altLang="en-US" b="1"/>
          </a:p>
          <a:p>
            <a:r>
              <a:rPr lang="en-US" altLang="en-US" b="1"/>
              <a:t>    </a:t>
            </a:r>
            <a:r>
              <a:rPr lang="en-US" altLang="en-US" b="1">
                <a:solidFill>
                  <a:schemeClr val="accent5">
                    <a:lumMod val="75000"/>
                  </a:schemeClr>
                </a:solidFill>
              </a:rPr>
              <a:t>Managing HugChat authentication using cookies-based session handling and </a:t>
            </a:r>
            <a:endParaRPr lang="en-US" altLang="en-US" b="1">
              <a:solidFill>
                <a:schemeClr val="accent5">
                  <a:lumMod val="75000"/>
                </a:schemeClr>
              </a:solidFill>
            </a:endParaRPr>
          </a:p>
          <a:p>
            <a:r>
              <a:rPr lang="en-US" altLang="en-US" b="1">
                <a:solidFill>
                  <a:schemeClr val="accent5">
                    <a:lumMod val="75000"/>
                  </a:schemeClr>
                </a:solidFill>
              </a:rPr>
              <a:t>    </a:t>
            </a:r>
            <a:r>
              <a:rPr lang="en-US" altLang="en-US" b="1">
                <a:solidFill>
                  <a:schemeClr val="accent5">
                    <a:lumMod val="75000"/>
                  </a:schemeClr>
                </a:solidFill>
                <a:sym typeface="+mn-ea"/>
              </a:rPr>
              <a:t>keeping it secure.</a:t>
            </a:r>
            <a:endParaRPr lang="en-US" altLang="en-US" b="1">
              <a:solidFill>
                <a:schemeClr val="accent5">
                  <a:lumMod val="75000"/>
                </a:schemeClr>
              </a:solidFill>
              <a:sym typeface="+mn-ea"/>
            </a:endParaRPr>
          </a:p>
          <a:p>
            <a:r>
              <a:rPr lang="en-US" altLang="en-US" b="1">
                <a:sym typeface="+mn-ea"/>
              </a:rPr>
              <a:t>4. </a:t>
            </a:r>
            <a:r>
              <a:rPr lang="zh-CN" altLang="en-US" b="1">
                <a:solidFill>
                  <a:schemeClr val="tx2"/>
                </a:solidFill>
              </a:rPr>
              <a:t>📦</a:t>
            </a:r>
            <a:r>
              <a:rPr lang="en-US" altLang="en-US" b="1"/>
              <a:t>  Application Launch Handling</a:t>
            </a:r>
            <a:endParaRPr lang="en-US" altLang="en-US" b="1"/>
          </a:p>
          <a:p>
            <a:r>
              <a:rPr lang="en-US" altLang="en-US" b="1"/>
              <a:t>    </a:t>
            </a:r>
            <a:r>
              <a:rPr lang="en-US" altLang="en-US" b="1">
                <a:solidFill>
                  <a:schemeClr val="accent5">
                    <a:lumMod val="75000"/>
                  </a:schemeClr>
                </a:solidFill>
              </a:rPr>
              <a:t>Executing custom app or web launches dynamically via database lookup or fallback     </a:t>
            </a:r>
            <a:endParaRPr lang="en-US" altLang="en-US" b="1">
              <a:solidFill>
                <a:schemeClr val="accent5">
                  <a:lumMod val="75000"/>
                </a:schemeClr>
              </a:solidFill>
            </a:endParaRPr>
          </a:p>
          <a:p>
            <a:r>
              <a:rPr lang="en-US" altLang="en-US" b="1">
                <a:solidFill>
                  <a:schemeClr val="accent5">
                    <a:lumMod val="75000"/>
                  </a:schemeClr>
                </a:solidFill>
              </a:rPr>
              <a:t>    </a:t>
            </a:r>
            <a:r>
              <a:rPr lang="en-US" altLang="en-US" b="1">
                <a:solidFill>
                  <a:schemeClr val="accent5">
                    <a:lumMod val="75000"/>
                  </a:schemeClr>
                </a:solidFill>
                <a:sym typeface="+mn-ea"/>
              </a:rPr>
              <a:t>system command.</a:t>
            </a:r>
            <a:endParaRPr lang="en-US" altLang="en-US" b="1">
              <a:solidFill>
                <a:schemeClr val="accent5">
                  <a:lumMod val="75000"/>
                </a:schemeClr>
              </a:solidFill>
              <a:sym typeface="+mn-ea"/>
            </a:endParaRPr>
          </a:p>
          <a:p>
            <a:r>
              <a:rPr lang="en-US" altLang="en-US" b="1">
                <a:sym typeface="+mn-ea"/>
              </a:rPr>
              <a:t>5. </a:t>
            </a:r>
            <a:r>
              <a:rPr lang="zh-CN" altLang="en-US" b="1">
                <a:solidFill>
                  <a:srgbClr val="00B050"/>
                </a:solidFill>
              </a:rPr>
              <a:t>📱</a:t>
            </a:r>
            <a:r>
              <a:rPr lang="en-US" altLang="en-US" b="1"/>
              <a:t>  WhatsApp Automation</a:t>
            </a:r>
            <a:endParaRPr lang="en-US" altLang="en-US" b="1"/>
          </a:p>
          <a:p>
            <a:r>
              <a:rPr lang="en-US" altLang="en-US" b="1"/>
              <a:t>    </a:t>
            </a:r>
            <a:r>
              <a:rPr lang="en-US" altLang="en-US" b="1">
                <a:solidFill>
                  <a:schemeClr val="accent5">
                    <a:lumMod val="75000"/>
                  </a:schemeClr>
                </a:solidFill>
              </a:rPr>
              <a:t>Managing WhatsApp Web automation using PyAutoGUI was sensitive to screen </a:t>
            </a:r>
            <a:endParaRPr lang="en-US" altLang="en-US" b="1">
              <a:solidFill>
                <a:schemeClr val="accent5">
                  <a:lumMod val="75000"/>
                </a:schemeClr>
              </a:solidFill>
            </a:endParaRPr>
          </a:p>
          <a:p>
            <a:r>
              <a:rPr lang="en-US" altLang="en-US" b="1">
                <a:solidFill>
                  <a:schemeClr val="accent5">
                    <a:lumMod val="75000"/>
                  </a:schemeClr>
                </a:solidFill>
              </a:rPr>
              <a:t>    </a:t>
            </a:r>
            <a:r>
              <a:rPr lang="en-US" altLang="en-US" b="1">
                <a:solidFill>
                  <a:schemeClr val="accent5">
                    <a:lumMod val="75000"/>
                  </a:schemeClr>
                </a:solidFill>
                <a:sym typeface="+mn-ea"/>
              </a:rPr>
              <a:t>resolution, delays, and UI changes.</a:t>
            </a:r>
            <a:endParaRPr lang="en-US" altLang="en-US" b="1">
              <a:solidFill>
                <a:schemeClr val="accent5">
                  <a:lumMod val="75000"/>
                </a:schemeClr>
              </a:solidFill>
              <a:sym typeface="+mn-ea"/>
            </a:endParaRPr>
          </a:p>
          <a:p>
            <a:r>
              <a:rPr lang="en-US" altLang="en-US" b="1">
                <a:sym typeface="+mn-ea"/>
              </a:rPr>
              <a:t>6. </a:t>
            </a:r>
            <a:r>
              <a:rPr lang="zh-CN" altLang="en-US" b="1">
                <a:solidFill>
                  <a:schemeClr val="accent5"/>
                </a:solidFill>
              </a:rPr>
              <a:t>📞</a:t>
            </a:r>
            <a:r>
              <a:rPr lang="en-US" altLang="zh-CN" b="1">
                <a:solidFill>
                  <a:schemeClr val="accent5"/>
                </a:solidFill>
              </a:rPr>
              <a:t> </a:t>
            </a:r>
            <a:r>
              <a:rPr lang="en-US" altLang="en-US" b="1"/>
              <a:t> Mobile Integration with ADB</a:t>
            </a:r>
            <a:endParaRPr lang="en-US" altLang="en-US" b="1"/>
          </a:p>
          <a:p>
            <a:r>
              <a:rPr lang="en-US" altLang="en-US" b="1"/>
              <a:t>    </a:t>
            </a:r>
            <a:r>
              <a:rPr lang="en-US" altLang="en-US" b="1">
                <a:solidFill>
                  <a:schemeClr val="accent5">
                    <a:lumMod val="75000"/>
                  </a:schemeClr>
                </a:solidFill>
              </a:rPr>
              <a:t>Challenges in maintaining ADB connection over IP and permission issues on the </a:t>
            </a:r>
            <a:endParaRPr lang="en-US" altLang="en-US" b="1">
              <a:solidFill>
                <a:schemeClr val="accent5">
                  <a:lumMod val="75000"/>
                </a:schemeClr>
              </a:solidFill>
            </a:endParaRPr>
          </a:p>
          <a:p>
            <a:r>
              <a:rPr lang="en-US" altLang="en-US" b="1">
                <a:solidFill>
                  <a:schemeClr val="accent5">
                    <a:lumMod val="75000"/>
                  </a:schemeClr>
                </a:solidFill>
              </a:rPr>
              <a:t>    </a:t>
            </a:r>
            <a:r>
              <a:rPr lang="en-US" altLang="en-US" b="1">
                <a:solidFill>
                  <a:schemeClr val="accent5">
                    <a:lumMod val="75000"/>
                  </a:schemeClr>
                </a:solidFill>
                <a:sym typeface="+mn-ea"/>
              </a:rPr>
              <a:t>mobile device.</a:t>
            </a:r>
            <a:endParaRPr lang="en-US" altLang="en-US" b="1">
              <a:solidFill>
                <a:schemeClr val="accent5">
                  <a:lumMod val="75000"/>
                </a:schemeClr>
              </a:solidFill>
              <a:sym typeface="+mn-ea"/>
            </a:endParaRPr>
          </a:p>
          <a:p>
            <a:r>
              <a:rPr lang="en-US" altLang="en-US" b="1">
                <a:sym typeface="+mn-ea"/>
              </a:rPr>
              <a:t>7. </a:t>
            </a:r>
            <a:r>
              <a:rPr lang="zh-CN" altLang="en-US" b="1"/>
              <a:t>🧠</a:t>
            </a:r>
            <a:r>
              <a:rPr lang="en-US" altLang="en-US" b="1"/>
              <a:t>  Command Extraction &amp; Processing</a:t>
            </a:r>
            <a:endParaRPr lang="en-US" altLang="en-US" b="1"/>
          </a:p>
          <a:p>
            <a:r>
              <a:rPr lang="en-US" altLang="en-US" b="1"/>
              <a:t>    </a:t>
            </a:r>
            <a:r>
              <a:rPr lang="en-US" altLang="en-US" b="1">
                <a:solidFill>
                  <a:schemeClr val="accent5">
                    <a:lumMod val="75000"/>
                  </a:schemeClr>
                </a:solidFill>
              </a:rPr>
              <a:t>Parsing natural language queries to accurately extract actionable commands and </a:t>
            </a:r>
            <a:endParaRPr lang="en-US" altLang="en-US" b="1">
              <a:solidFill>
                <a:schemeClr val="accent5">
                  <a:lumMod val="75000"/>
                </a:schemeClr>
              </a:solidFill>
            </a:endParaRPr>
          </a:p>
          <a:p>
            <a:r>
              <a:rPr lang="en-US" altLang="en-US" b="1">
                <a:solidFill>
                  <a:schemeClr val="accent5">
                    <a:lumMod val="75000"/>
                  </a:schemeClr>
                </a:solidFill>
              </a:rPr>
              <a:t>    </a:t>
            </a:r>
            <a:r>
              <a:rPr lang="en-US" altLang="en-US" b="1">
                <a:solidFill>
                  <a:schemeClr val="accent5">
                    <a:lumMod val="75000"/>
                  </a:schemeClr>
                </a:solidFill>
                <a:sym typeface="+mn-ea"/>
              </a:rPr>
              <a:t>intent.</a:t>
            </a:r>
            <a:endParaRPr lang="en-US" altLang="en-US" b="1">
              <a:solidFill>
                <a:schemeClr val="accent5">
                  <a:lumMod val="75000"/>
                </a:schemeClr>
              </a:solidFill>
            </a:endParaRPr>
          </a:p>
          <a:p>
            <a:endParaRPr lang="en-US" altLang="en-US" b="1"/>
          </a:p>
          <a:p>
            <a:endParaRPr lang="en-US" altLang="en-US" b="1"/>
          </a:p>
          <a:p>
            <a:endParaRPr lang="en-US" altLang="en-US" b="1"/>
          </a:p>
          <a:p>
            <a:endParaRPr lang="en-US" altLang="en-US" b="1"/>
          </a:p>
          <a:p>
            <a:endParaRPr lang="en-US" altLang="en-US" b="1"/>
          </a:p>
          <a:p>
            <a:endParaRPr lang="en-US" altLang="en-US" b="1"/>
          </a:p>
          <a:p>
            <a:endParaRPr lang="en-US" altLang="en-US" b="1"/>
          </a:p>
          <a:p>
            <a:endParaRPr lang="en-US" altLang="en-US" b="1"/>
          </a:p>
          <a:p>
            <a:endParaRPr lang="en-US" altLang="en-US" b="1"/>
          </a:p>
          <a:p>
            <a:endParaRPr lang="en-US" altLang="en-US" b="1"/>
          </a:p>
          <a:p>
            <a:endParaRPr lang="en-US" altLang="en-US" b="1"/>
          </a:p>
          <a:p>
            <a:endParaRPr lang="en-US" altLang="en-US" b="1"/>
          </a:p>
          <a:p>
            <a:endParaRPr lang="en-US" altLang="en-US" b="1"/>
          </a:p>
          <a:p>
            <a:endParaRPr lang="en-US" altLang="en-US" b="1"/>
          </a:p>
          <a:p>
            <a:endParaRPr lang="en-US" altLang="en-US" b="1"/>
          </a:p>
          <a:p>
            <a:endParaRPr lang="en-US" altLang="en-US" b="1"/>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1"/>
          <a:srcRect l="14185" t="24529" r="26515" b="27426"/>
          <a:stretch>
            <a:fillRect/>
          </a:stretch>
        </p:blipFill>
        <p:spPr>
          <a:xfrm>
            <a:off x="0" y="0"/>
            <a:ext cx="9144000" cy="6858000"/>
          </a:xfrm>
          <a:prstGeom prst="rect">
            <a:avLst/>
          </a:prstGeom>
          <a:noFill/>
          <a:ln w="9525">
            <a:noFill/>
          </a:ln>
        </p:spPr>
      </p:pic>
      <p:sp>
        <p:nvSpPr>
          <p:cNvPr id="2" name="Text Box 1"/>
          <p:cNvSpPr txBox="1"/>
          <p:nvPr/>
        </p:nvSpPr>
        <p:spPr>
          <a:xfrm>
            <a:off x="2324735" y="96520"/>
            <a:ext cx="4494530" cy="645160"/>
          </a:xfrm>
          <a:prstGeom prst="rect">
            <a:avLst/>
          </a:prstGeom>
          <a:noFill/>
        </p:spPr>
        <p:txBody>
          <a:bodyPr wrap="square" rtlCol="0">
            <a:spAutoFit/>
          </a:bodyPr>
          <a:p>
            <a:pPr algn="ctr"/>
            <a:r>
              <a:rPr lang="en-US" altLang="en-US" sz="3600" b="1">
                <a:solidFill>
                  <a:schemeClr val="bg1"/>
                </a:solidFill>
                <a:highlight>
                  <a:srgbClr val="000000"/>
                </a:highlight>
              </a:rPr>
              <a:t>Future Enhancements</a:t>
            </a:r>
            <a:endParaRPr lang="en-US" altLang="en-US" sz="3600" b="1">
              <a:solidFill>
                <a:schemeClr val="bg1"/>
              </a:solidFill>
              <a:highlight>
                <a:srgbClr val="000000"/>
              </a:highlight>
            </a:endParaRPr>
          </a:p>
        </p:txBody>
      </p:sp>
      <p:sp>
        <p:nvSpPr>
          <p:cNvPr id="3" name="Text Box 2"/>
          <p:cNvSpPr txBox="1"/>
          <p:nvPr/>
        </p:nvSpPr>
        <p:spPr>
          <a:xfrm>
            <a:off x="163195" y="885825"/>
            <a:ext cx="8690610" cy="5971540"/>
          </a:xfrm>
          <a:prstGeom prst="rect">
            <a:avLst/>
          </a:prstGeom>
          <a:solidFill>
            <a:schemeClr val="tx1"/>
          </a:solidFill>
        </p:spPr>
        <p:txBody>
          <a:bodyPr wrap="square" rtlCol="0">
            <a:noAutofit/>
          </a:bodyPr>
          <a:p>
            <a:r>
              <a:rPr lang="en-US" b="1">
                <a:solidFill>
                  <a:srgbClr val="FF0000"/>
                </a:solidFill>
              </a:rPr>
              <a:t>1. </a:t>
            </a:r>
            <a:r>
              <a:rPr lang="zh-CN" altLang="en-US" b="1">
                <a:solidFill>
                  <a:srgbClr val="FF0000"/>
                </a:solidFill>
              </a:rPr>
              <a:t>🚀</a:t>
            </a:r>
            <a:r>
              <a:rPr lang="en-US" altLang="zh-CN" b="1">
                <a:solidFill>
                  <a:srgbClr val="FF0000"/>
                </a:solidFill>
              </a:rPr>
              <a:t> </a:t>
            </a:r>
            <a:r>
              <a:rPr lang="en-US" altLang="en-US" b="1">
                <a:solidFill>
                  <a:srgbClr val="FF0000"/>
                </a:solidFill>
              </a:rPr>
              <a:t> Expand Command Dataset</a:t>
            </a:r>
            <a:endParaRPr lang="en-US" altLang="en-US" b="1">
              <a:solidFill>
                <a:srgbClr val="FF0000"/>
              </a:solidFill>
            </a:endParaRPr>
          </a:p>
          <a:p>
            <a:r>
              <a:rPr lang="en-US" altLang="en-US" b="1">
                <a:solidFill>
                  <a:schemeClr val="bg1"/>
                </a:solidFill>
              </a:rPr>
              <a:t>    Add support for more natural language commands and improve the assistant’s </a:t>
            </a:r>
            <a:endParaRPr lang="en-US" altLang="en-US" b="1">
              <a:solidFill>
                <a:schemeClr val="bg1"/>
              </a:solidFill>
            </a:endParaRPr>
          </a:p>
          <a:p>
            <a:r>
              <a:rPr lang="en-US" altLang="en-US" b="1">
                <a:solidFill>
                  <a:schemeClr val="bg1"/>
                </a:solidFill>
              </a:rPr>
              <a:t>    </a:t>
            </a:r>
            <a:r>
              <a:rPr lang="en-US" altLang="en-US" b="1">
                <a:solidFill>
                  <a:schemeClr val="bg1"/>
                </a:solidFill>
                <a:sym typeface="+mn-ea"/>
              </a:rPr>
              <a:t>understanding of varied phrases.</a:t>
            </a:r>
            <a:endParaRPr lang="en-US" altLang="en-US" b="1">
              <a:solidFill>
                <a:schemeClr val="bg1"/>
              </a:solidFill>
              <a:sym typeface="+mn-ea"/>
            </a:endParaRPr>
          </a:p>
          <a:p>
            <a:endParaRPr lang="en-US" altLang="en-US" b="1">
              <a:solidFill>
                <a:schemeClr val="bg1"/>
              </a:solidFill>
              <a:sym typeface="+mn-ea"/>
            </a:endParaRPr>
          </a:p>
          <a:p>
            <a:r>
              <a:rPr lang="en-US" altLang="en-US" b="1">
                <a:solidFill>
                  <a:srgbClr val="FF0000"/>
                </a:solidFill>
                <a:sym typeface="+mn-ea"/>
              </a:rPr>
              <a:t>2. </a:t>
            </a:r>
            <a:r>
              <a:rPr lang="zh-CN" altLang="en-US" b="1">
                <a:solidFill>
                  <a:schemeClr val="accent1"/>
                </a:solidFill>
              </a:rPr>
              <a:t>🌐</a:t>
            </a:r>
            <a:r>
              <a:rPr lang="en-US" altLang="en-US" b="1">
                <a:solidFill>
                  <a:srgbClr val="FF0000"/>
                </a:solidFill>
              </a:rPr>
              <a:t>  Multilingual Support</a:t>
            </a:r>
            <a:endParaRPr lang="en-US" altLang="en-US" b="1">
              <a:solidFill>
                <a:srgbClr val="FF0000"/>
              </a:solidFill>
            </a:endParaRPr>
          </a:p>
          <a:p>
            <a:r>
              <a:rPr lang="en-US" altLang="en-US" b="1">
                <a:solidFill>
                  <a:schemeClr val="bg1"/>
                </a:solidFill>
              </a:rPr>
              <a:t>    Add the ability to understand and respond in multiple regional and international </a:t>
            </a:r>
            <a:endParaRPr lang="en-US" altLang="en-US" b="1">
              <a:solidFill>
                <a:schemeClr val="bg1"/>
              </a:solidFill>
            </a:endParaRPr>
          </a:p>
          <a:p>
            <a:r>
              <a:rPr lang="en-US" altLang="en-US" b="1">
                <a:solidFill>
                  <a:schemeClr val="bg1"/>
                </a:solidFill>
              </a:rPr>
              <a:t>    </a:t>
            </a:r>
            <a:r>
              <a:rPr lang="en-US" altLang="en-US" b="1">
                <a:solidFill>
                  <a:schemeClr val="bg1"/>
                </a:solidFill>
                <a:sym typeface="+mn-ea"/>
              </a:rPr>
              <a:t>languages.</a:t>
            </a:r>
            <a:endParaRPr lang="en-US" altLang="en-US" b="1">
              <a:solidFill>
                <a:schemeClr val="bg1"/>
              </a:solidFill>
              <a:sym typeface="+mn-ea"/>
            </a:endParaRPr>
          </a:p>
          <a:p>
            <a:endParaRPr lang="en-US" altLang="en-US" b="1">
              <a:solidFill>
                <a:schemeClr val="bg1"/>
              </a:solidFill>
            </a:endParaRPr>
          </a:p>
          <a:p>
            <a:r>
              <a:rPr lang="en-US" altLang="en-US" b="1">
                <a:solidFill>
                  <a:srgbClr val="FF0000"/>
                </a:solidFill>
              </a:rPr>
              <a:t>3. </a:t>
            </a:r>
            <a:r>
              <a:rPr lang="zh-CN" altLang="en-US" b="1">
                <a:solidFill>
                  <a:schemeClr val="tx1"/>
                </a:solidFill>
                <a:highlight>
                  <a:srgbClr val="C0C0C0"/>
                </a:highlight>
              </a:rPr>
              <a:t>🎤</a:t>
            </a:r>
            <a:r>
              <a:rPr lang="en-US" altLang="en-US" b="1">
                <a:solidFill>
                  <a:schemeClr val="tx1"/>
                </a:solidFill>
              </a:rPr>
              <a:t> </a:t>
            </a:r>
            <a:r>
              <a:rPr lang="en-US" altLang="en-US" b="1">
                <a:solidFill>
                  <a:srgbClr val="FF0000"/>
                </a:solidFill>
              </a:rPr>
              <a:t> Wake Word Activation</a:t>
            </a:r>
            <a:endParaRPr lang="en-US" altLang="en-US" b="1">
              <a:solidFill>
                <a:srgbClr val="FF0000"/>
              </a:solidFill>
            </a:endParaRPr>
          </a:p>
          <a:p>
            <a:r>
              <a:rPr lang="en-US" altLang="en-US" b="1">
                <a:solidFill>
                  <a:schemeClr val="bg1"/>
                </a:solidFill>
              </a:rPr>
              <a:t>    Implement hotword detection (e.g., “Hey Raphael”) to activate the assistant without </a:t>
            </a:r>
            <a:endParaRPr lang="en-US" altLang="en-US" b="1">
              <a:solidFill>
                <a:schemeClr val="bg1"/>
              </a:solidFill>
            </a:endParaRPr>
          </a:p>
          <a:p>
            <a:r>
              <a:rPr lang="en-US" altLang="en-US" b="1">
                <a:solidFill>
                  <a:schemeClr val="bg1"/>
                </a:solidFill>
              </a:rPr>
              <a:t>    </a:t>
            </a:r>
            <a:r>
              <a:rPr lang="en-US" altLang="en-US" b="1">
                <a:solidFill>
                  <a:schemeClr val="bg1"/>
                </a:solidFill>
                <a:sym typeface="+mn-ea"/>
              </a:rPr>
              <a:t>clicking the mic.</a:t>
            </a:r>
            <a:endParaRPr lang="en-US" altLang="en-US" b="1">
              <a:solidFill>
                <a:schemeClr val="bg1"/>
              </a:solidFill>
              <a:sym typeface="+mn-ea"/>
            </a:endParaRPr>
          </a:p>
          <a:p>
            <a:endParaRPr lang="en-US" altLang="en-US" b="1">
              <a:solidFill>
                <a:schemeClr val="bg1"/>
              </a:solidFill>
            </a:endParaRPr>
          </a:p>
          <a:p>
            <a:r>
              <a:rPr lang="en-US" altLang="en-US" b="1">
                <a:solidFill>
                  <a:srgbClr val="FF0000"/>
                </a:solidFill>
              </a:rPr>
              <a:t>4. </a:t>
            </a:r>
            <a:r>
              <a:rPr lang="zh-CN" altLang="en-US" b="1">
                <a:solidFill>
                  <a:schemeClr val="accent2">
                    <a:lumMod val="75000"/>
                  </a:schemeClr>
                </a:solidFill>
              </a:rPr>
              <a:t>📱</a:t>
            </a:r>
            <a:r>
              <a:rPr lang="en-US" altLang="en-US" b="1">
                <a:solidFill>
                  <a:srgbClr val="FF0000"/>
                </a:solidFill>
              </a:rPr>
              <a:t>  Mobile App Version</a:t>
            </a:r>
            <a:endParaRPr lang="en-US" altLang="en-US" b="1">
              <a:solidFill>
                <a:srgbClr val="FF0000"/>
              </a:solidFill>
            </a:endParaRPr>
          </a:p>
          <a:p>
            <a:r>
              <a:rPr lang="en-US" altLang="en-US" b="1">
                <a:solidFill>
                  <a:schemeClr val="bg1"/>
                </a:solidFill>
              </a:rPr>
              <a:t>    Develop a cross-platform mobile app to bring Raphael's features to smartphones.</a:t>
            </a:r>
            <a:endParaRPr lang="en-US" altLang="en-US" b="1">
              <a:solidFill>
                <a:schemeClr val="bg1"/>
              </a:solidFill>
            </a:endParaRPr>
          </a:p>
          <a:p>
            <a:endParaRPr lang="en-US" altLang="en-US" b="1">
              <a:solidFill>
                <a:schemeClr val="bg1"/>
              </a:solidFill>
            </a:endParaRPr>
          </a:p>
          <a:p>
            <a:r>
              <a:rPr lang="en-US" altLang="en-US" b="1">
                <a:solidFill>
                  <a:srgbClr val="FF0000"/>
                </a:solidFill>
              </a:rPr>
              <a:t>5. </a:t>
            </a:r>
            <a:r>
              <a:rPr lang="zh-CN" altLang="en-US" b="1">
                <a:solidFill>
                  <a:schemeClr val="accent6"/>
                </a:solidFill>
              </a:rPr>
              <a:t>🧠</a:t>
            </a:r>
            <a:r>
              <a:rPr lang="en-US" altLang="en-US" b="1">
                <a:solidFill>
                  <a:srgbClr val="FF0000"/>
                </a:solidFill>
              </a:rPr>
              <a:t>   AI Model Integration</a:t>
            </a:r>
            <a:endParaRPr lang="en-US" altLang="en-US" b="1">
              <a:solidFill>
                <a:srgbClr val="FF0000"/>
              </a:solidFill>
            </a:endParaRPr>
          </a:p>
          <a:p>
            <a:r>
              <a:rPr lang="en-US" altLang="en-US" b="1">
                <a:solidFill>
                  <a:schemeClr val="bg1"/>
                </a:solidFill>
              </a:rPr>
              <a:t>    Incorporate GPT-like NLP models directly for smarter conversations without external </a:t>
            </a:r>
            <a:endParaRPr lang="en-US" altLang="en-US" b="1">
              <a:solidFill>
                <a:schemeClr val="bg1"/>
              </a:solidFill>
            </a:endParaRPr>
          </a:p>
          <a:p>
            <a:r>
              <a:rPr lang="en-US" altLang="en-US" b="1">
                <a:solidFill>
                  <a:schemeClr val="bg1"/>
                </a:solidFill>
              </a:rPr>
              <a:t>    </a:t>
            </a:r>
            <a:r>
              <a:rPr lang="en-US" altLang="en-US" b="1">
                <a:solidFill>
                  <a:schemeClr val="bg1"/>
                </a:solidFill>
                <a:sym typeface="+mn-ea"/>
              </a:rPr>
              <a:t>API dependence.</a:t>
            </a:r>
            <a:endParaRPr lang="en-US" altLang="en-US" b="1">
              <a:solidFill>
                <a:schemeClr val="bg1"/>
              </a:solidFill>
              <a:sym typeface="+mn-ea"/>
            </a:endParaRPr>
          </a:p>
          <a:p>
            <a:endParaRPr lang="en-US" altLang="en-US" b="1">
              <a:solidFill>
                <a:schemeClr val="bg1"/>
              </a:solidFill>
            </a:endParaRPr>
          </a:p>
          <a:p>
            <a:r>
              <a:rPr lang="en-US" altLang="en-US" b="1">
                <a:solidFill>
                  <a:srgbClr val="FF0000"/>
                </a:solidFill>
              </a:rPr>
              <a:t>6. </a:t>
            </a:r>
            <a:r>
              <a:rPr lang="zh-CN" altLang="en-US" b="1">
                <a:solidFill>
                  <a:schemeClr val="accent2"/>
                </a:solidFill>
              </a:rPr>
              <a:t>🔐</a:t>
            </a:r>
            <a:r>
              <a:rPr lang="en-US" altLang="en-US" b="1">
                <a:solidFill>
                  <a:srgbClr val="FF0000"/>
                </a:solidFill>
              </a:rPr>
              <a:t>   Voice-Based Authentication</a:t>
            </a:r>
            <a:endParaRPr lang="en-US" altLang="en-US" b="1">
              <a:solidFill>
                <a:srgbClr val="FF0000"/>
              </a:solidFill>
            </a:endParaRPr>
          </a:p>
          <a:p>
            <a:r>
              <a:rPr lang="en-US" altLang="en-US" b="1">
                <a:solidFill>
                  <a:schemeClr val="bg1"/>
                </a:solidFill>
              </a:rPr>
              <a:t>     Integrate voice biometrics to secure access to sensitive features.</a:t>
            </a:r>
            <a:endParaRPr lang="en-US" altLang="en-US" b="1">
              <a:solidFill>
                <a:schemeClr val="bg1"/>
              </a:solidFill>
            </a:endParaRPr>
          </a:p>
          <a:p>
            <a:endParaRPr lang="en-US" altLang="en-US" b="1">
              <a:solidFill>
                <a:schemeClr val="bg1"/>
              </a:solidFill>
            </a:endParaRPr>
          </a:p>
          <a:p>
            <a:endParaRPr lang="en-US" altLang="en-US" b="1">
              <a:solidFill>
                <a:schemeClr val="bg1"/>
              </a:solidFill>
            </a:endParaRPr>
          </a:p>
          <a:p>
            <a:endParaRPr lang="en-US" altLang="en-US" b="1">
              <a:solidFill>
                <a:schemeClr val="bg1"/>
              </a:solidFill>
            </a:endParaRPr>
          </a:p>
          <a:p>
            <a:endParaRPr lang="en-US" altLang="en-US" b="1">
              <a:solidFill>
                <a:schemeClr val="bg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1"/>
          <a:srcRect l="14185" t="24529" r="26515" b="27426"/>
          <a:stretch>
            <a:fillRect/>
          </a:stretch>
        </p:blipFill>
        <p:spPr>
          <a:xfrm>
            <a:off x="0" y="0"/>
            <a:ext cx="9144000" cy="6858000"/>
          </a:xfrm>
          <a:prstGeom prst="rect">
            <a:avLst/>
          </a:prstGeom>
          <a:noFill/>
          <a:ln w="9525">
            <a:noFill/>
          </a:ln>
        </p:spPr>
      </p:pic>
      <p:sp>
        <p:nvSpPr>
          <p:cNvPr id="2" name="Text Box 1"/>
          <p:cNvSpPr txBox="1"/>
          <p:nvPr/>
        </p:nvSpPr>
        <p:spPr>
          <a:xfrm>
            <a:off x="1919605" y="539750"/>
            <a:ext cx="5305425" cy="706755"/>
          </a:xfrm>
          <a:prstGeom prst="rect">
            <a:avLst/>
          </a:prstGeom>
          <a:noFill/>
        </p:spPr>
        <p:txBody>
          <a:bodyPr wrap="square" rtlCol="0">
            <a:spAutoFit/>
          </a:bodyPr>
          <a:p>
            <a:pPr algn="ctr"/>
            <a:r>
              <a:rPr lang="en-US" sz="4000" b="1">
                <a:solidFill>
                  <a:srgbClr val="00B0F0"/>
                </a:solidFill>
              </a:rPr>
              <a:t>CONCLUSION</a:t>
            </a:r>
            <a:endParaRPr lang="en-US" sz="4000" b="1">
              <a:solidFill>
                <a:srgbClr val="00B0F0"/>
              </a:solidFill>
            </a:endParaRPr>
          </a:p>
        </p:txBody>
      </p:sp>
      <p:sp>
        <p:nvSpPr>
          <p:cNvPr id="3" name="Text Box 2"/>
          <p:cNvSpPr txBox="1"/>
          <p:nvPr/>
        </p:nvSpPr>
        <p:spPr>
          <a:xfrm>
            <a:off x="202565" y="1456690"/>
            <a:ext cx="8776970" cy="4765675"/>
          </a:xfrm>
          <a:prstGeom prst="rect">
            <a:avLst/>
          </a:prstGeom>
          <a:noFill/>
        </p:spPr>
        <p:txBody>
          <a:bodyPr wrap="square" rtlCol="0">
            <a:noAutofit/>
          </a:bodyPr>
          <a:p>
            <a:r>
              <a:rPr lang="en-US" b="1">
                <a:solidFill>
                  <a:srgbClr val="FFFF00"/>
                </a:solidFill>
              </a:rPr>
              <a:t>1.</a:t>
            </a:r>
            <a:r>
              <a:rPr lang="en-US" b="1">
                <a:solidFill>
                  <a:schemeClr val="bg1"/>
                </a:solidFill>
              </a:rPr>
              <a:t> </a:t>
            </a:r>
            <a:r>
              <a:rPr lang="en-US" altLang="en-US" b="1">
                <a:solidFill>
                  <a:srgbClr val="92D050"/>
                </a:solidFill>
              </a:rPr>
              <a:t>✅  </a:t>
            </a:r>
            <a:r>
              <a:rPr lang="en-US" altLang="en-US" b="1">
                <a:solidFill>
                  <a:srgbClr val="FFFF00"/>
                </a:solidFill>
              </a:rPr>
              <a:t>Smart and Interactive Assistant</a:t>
            </a:r>
            <a:endParaRPr lang="en-US" altLang="en-US" b="1">
              <a:solidFill>
                <a:schemeClr val="bg1"/>
              </a:solidFill>
            </a:endParaRPr>
          </a:p>
          <a:p>
            <a:r>
              <a:rPr lang="en-US" altLang="en-US" b="1">
                <a:solidFill>
                  <a:schemeClr val="bg1"/>
                </a:solidFill>
              </a:rPr>
              <a:t>    "Raphael" acts as a personalized voice assistant that can handle tasks like opening </a:t>
            </a:r>
            <a:endParaRPr lang="en-US" altLang="en-US" b="1">
              <a:solidFill>
                <a:schemeClr val="bg1"/>
              </a:solidFill>
            </a:endParaRPr>
          </a:p>
          <a:p>
            <a:r>
              <a:rPr lang="en-US" altLang="en-US" b="1">
                <a:solidFill>
                  <a:schemeClr val="bg1"/>
                </a:solidFill>
              </a:rPr>
              <a:t>    </a:t>
            </a:r>
            <a:r>
              <a:rPr lang="en-US" altLang="en-US" b="1">
                <a:solidFill>
                  <a:schemeClr val="bg1"/>
                </a:solidFill>
                <a:sym typeface="+mn-ea"/>
              </a:rPr>
              <a:t>applications, making WhatsApp calls, sending messages, playing YouTube videos, and </a:t>
            </a:r>
            <a:endParaRPr lang="en-US" altLang="en-US" b="1">
              <a:solidFill>
                <a:schemeClr val="bg1"/>
              </a:solidFill>
              <a:sym typeface="+mn-ea"/>
            </a:endParaRPr>
          </a:p>
          <a:p>
            <a:r>
              <a:rPr lang="en-US" altLang="en-US" b="1">
                <a:solidFill>
                  <a:schemeClr val="bg1"/>
                </a:solidFill>
                <a:sym typeface="+mn-ea"/>
              </a:rPr>
              <a:t>    </a:t>
            </a:r>
            <a:r>
              <a:rPr lang="en-US" altLang="en-US" b="1">
                <a:solidFill>
                  <a:schemeClr val="bg1"/>
                </a:solidFill>
                <a:sym typeface="+mn-ea"/>
              </a:rPr>
              <a:t>more—using simple voice commands.</a:t>
            </a:r>
            <a:endParaRPr lang="en-US" altLang="en-US" b="1">
              <a:solidFill>
                <a:schemeClr val="bg1"/>
              </a:solidFill>
            </a:endParaRPr>
          </a:p>
          <a:p>
            <a:r>
              <a:rPr lang="en-US" altLang="en-US" b="1">
                <a:solidFill>
                  <a:srgbClr val="FFFF00"/>
                </a:solidFill>
              </a:rPr>
              <a:t>2.</a:t>
            </a:r>
            <a:r>
              <a:rPr lang="en-US" altLang="en-US" b="1">
                <a:solidFill>
                  <a:schemeClr val="bg1"/>
                </a:solidFill>
              </a:rPr>
              <a:t> </a:t>
            </a:r>
            <a:r>
              <a:rPr lang="zh-CN" altLang="en-US" b="1">
                <a:solidFill>
                  <a:srgbClr val="FFFF00"/>
                </a:solidFill>
                <a:highlight>
                  <a:srgbClr val="00FFFF"/>
                </a:highlight>
              </a:rPr>
              <a:t>💡</a:t>
            </a:r>
            <a:r>
              <a:rPr lang="en-US" altLang="en-US" b="1">
                <a:solidFill>
                  <a:schemeClr val="bg1"/>
                </a:solidFill>
              </a:rPr>
              <a:t>  </a:t>
            </a:r>
            <a:r>
              <a:rPr lang="en-US" altLang="en-US" b="1">
                <a:solidFill>
                  <a:srgbClr val="FFFF00"/>
                </a:solidFill>
              </a:rPr>
              <a:t>User-Friendly Design</a:t>
            </a:r>
            <a:endParaRPr lang="en-US" altLang="en-US" b="1">
              <a:solidFill>
                <a:schemeClr val="bg1"/>
              </a:solidFill>
            </a:endParaRPr>
          </a:p>
          <a:p>
            <a:r>
              <a:rPr lang="en-US" altLang="en-US" b="1">
                <a:solidFill>
                  <a:schemeClr val="bg1"/>
                </a:solidFill>
              </a:rPr>
              <a:t>    Built with a clean Bootstrap-based interface and smooth Python backend, the assistant </a:t>
            </a:r>
            <a:endParaRPr lang="en-US" altLang="en-US" b="1">
              <a:solidFill>
                <a:schemeClr val="bg1"/>
              </a:solidFill>
            </a:endParaRPr>
          </a:p>
          <a:p>
            <a:r>
              <a:rPr lang="en-US" altLang="en-US" b="1">
                <a:solidFill>
                  <a:schemeClr val="bg1"/>
                </a:solidFill>
              </a:rPr>
              <a:t>    </a:t>
            </a:r>
            <a:r>
              <a:rPr lang="en-US" altLang="en-US" b="1">
                <a:solidFill>
                  <a:schemeClr val="bg1"/>
                </a:solidFill>
                <a:sym typeface="+mn-ea"/>
              </a:rPr>
              <a:t>ensures ease of use for all users.</a:t>
            </a:r>
            <a:endParaRPr lang="en-US" altLang="en-US" b="1">
              <a:solidFill>
                <a:schemeClr val="bg1"/>
              </a:solidFill>
            </a:endParaRPr>
          </a:p>
          <a:p>
            <a:r>
              <a:rPr lang="en-US" altLang="en-US" b="1">
                <a:solidFill>
                  <a:srgbClr val="FFFF00"/>
                </a:solidFill>
              </a:rPr>
              <a:t>3. </a:t>
            </a:r>
            <a:r>
              <a:rPr lang="zh-CN" altLang="en-US" b="1">
                <a:solidFill>
                  <a:srgbClr val="FFC000"/>
                </a:solidFill>
              </a:rPr>
              <a:t>🔒</a:t>
            </a:r>
            <a:r>
              <a:rPr lang="en-US" altLang="zh-CN" b="1">
                <a:solidFill>
                  <a:srgbClr val="FFC000"/>
                </a:solidFill>
              </a:rPr>
              <a:t> </a:t>
            </a:r>
            <a:r>
              <a:rPr lang="en-US" altLang="en-US" b="1">
                <a:solidFill>
                  <a:schemeClr val="bg1"/>
                </a:solidFill>
              </a:rPr>
              <a:t> </a:t>
            </a:r>
            <a:r>
              <a:rPr lang="en-US" altLang="en-US" b="1">
                <a:solidFill>
                  <a:srgbClr val="FFFF00"/>
                </a:solidFill>
              </a:rPr>
              <a:t>Secure and Modular Architecture</a:t>
            </a:r>
            <a:endParaRPr lang="en-US" altLang="en-US" b="1">
              <a:solidFill>
                <a:schemeClr val="bg1"/>
              </a:solidFill>
            </a:endParaRPr>
          </a:p>
          <a:p>
            <a:r>
              <a:rPr lang="en-US" altLang="en-US" b="1">
                <a:solidFill>
                  <a:schemeClr val="bg1"/>
                </a:solidFill>
              </a:rPr>
              <a:t>    With SQLite databases, speech libraries, and session-based HugChat integration, the </a:t>
            </a:r>
            <a:endParaRPr lang="en-US" altLang="en-US" b="1">
              <a:solidFill>
                <a:schemeClr val="bg1"/>
              </a:solidFill>
            </a:endParaRPr>
          </a:p>
          <a:p>
            <a:r>
              <a:rPr lang="en-US" altLang="en-US" b="1">
                <a:solidFill>
                  <a:schemeClr val="bg1"/>
                </a:solidFill>
              </a:rPr>
              <a:t>    </a:t>
            </a:r>
            <a:r>
              <a:rPr lang="en-US" altLang="en-US" b="1">
                <a:solidFill>
                  <a:schemeClr val="bg1"/>
                </a:solidFill>
                <a:sym typeface="+mn-ea"/>
              </a:rPr>
              <a:t>backend is designed for both flexibility and safety.</a:t>
            </a:r>
            <a:endParaRPr lang="en-US" altLang="en-US" b="1">
              <a:solidFill>
                <a:schemeClr val="bg1"/>
              </a:solidFill>
            </a:endParaRPr>
          </a:p>
          <a:p>
            <a:r>
              <a:rPr lang="en-US" altLang="en-US" b="1">
                <a:solidFill>
                  <a:srgbClr val="FFFF00"/>
                </a:solidFill>
              </a:rPr>
              <a:t>4. </a:t>
            </a:r>
            <a:r>
              <a:rPr lang="zh-CN" altLang="en-US" b="1">
                <a:solidFill>
                  <a:srgbClr val="FF0000"/>
                </a:solidFill>
              </a:rPr>
              <a:t>🚀</a:t>
            </a:r>
            <a:r>
              <a:rPr lang="en-US" altLang="en-US" b="1">
                <a:solidFill>
                  <a:schemeClr val="bg1"/>
                </a:solidFill>
              </a:rPr>
              <a:t>  </a:t>
            </a:r>
            <a:r>
              <a:rPr lang="en-US" altLang="en-US" b="1">
                <a:solidFill>
                  <a:srgbClr val="FFFF00"/>
                </a:solidFill>
              </a:rPr>
              <a:t>Scalable and Extendable</a:t>
            </a:r>
            <a:endParaRPr lang="en-US" altLang="en-US" b="1">
              <a:solidFill>
                <a:srgbClr val="FFFF00"/>
              </a:solidFill>
            </a:endParaRPr>
          </a:p>
          <a:p>
            <a:r>
              <a:rPr lang="en-US" altLang="en-US" b="1">
                <a:solidFill>
                  <a:schemeClr val="bg1"/>
                </a:solidFill>
              </a:rPr>
              <a:t>    The architecture allows for easy addition of new features and modules like smart home   </a:t>
            </a:r>
            <a:endParaRPr lang="en-US" altLang="en-US" b="1">
              <a:solidFill>
                <a:schemeClr val="bg1"/>
              </a:solidFill>
            </a:endParaRPr>
          </a:p>
          <a:p>
            <a:r>
              <a:rPr lang="en-US" altLang="en-US" b="1">
                <a:solidFill>
                  <a:schemeClr val="bg1"/>
                </a:solidFill>
              </a:rPr>
              <a:t>    </a:t>
            </a:r>
            <a:r>
              <a:rPr lang="en-US" altLang="en-US" b="1">
                <a:solidFill>
                  <a:schemeClr val="bg1"/>
                </a:solidFill>
                <a:sym typeface="+mn-ea"/>
              </a:rPr>
              <a:t>integration or real-time information retrieval.</a:t>
            </a:r>
            <a:endParaRPr lang="en-US" altLang="en-US" b="1">
              <a:solidFill>
                <a:schemeClr val="bg1"/>
              </a:solidFill>
            </a:endParaRPr>
          </a:p>
          <a:p>
            <a:r>
              <a:rPr lang="en-US" altLang="en-US" b="1">
                <a:solidFill>
                  <a:srgbClr val="FFFF00"/>
                </a:solidFill>
              </a:rPr>
              <a:t>5. </a:t>
            </a:r>
            <a:r>
              <a:rPr lang="zh-CN" altLang="en-US" b="1">
                <a:solidFill>
                  <a:schemeClr val="accent5"/>
                </a:solidFill>
              </a:rPr>
              <a:t>🎯</a:t>
            </a:r>
            <a:r>
              <a:rPr lang="en-US" altLang="en-US" b="1">
                <a:solidFill>
                  <a:schemeClr val="bg1"/>
                </a:solidFill>
              </a:rPr>
              <a:t>  </a:t>
            </a:r>
            <a:r>
              <a:rPr lang="en-US" altLang="en-US" b="1">
                <a:solidFill>
                  <a:srgbClr val="FFFF00"/>
                </a:solidFill>
              </a:rPr>
              <a:t>Learning Experience</a:t>
            </a:r>
            <a:endParaRPr lang="en-US" altLang="en-US" b="1">
              <a:solidFill>
                <a:schemeClr val="bg1"/>
              </a:solidFill>
            </a:endParaRPr>
          </a:p>
          <a:p>
            <a:r>
              <a:rPr lang="en-US" altLang="en-US" b="1">
                <a:solidFill>
                  <a:schemeClr val="bg1"/>
                </a:solidFill>
              </a:rPr>
              <a:t>    This project provided hands-on experience in frontend/backend integration, API usage, </a:t>
            </a:r>
            <a:endParaRPr lang="en-US" altLang="en-US" b="1">
              <a:solidFill>
                <a:schemeClr val="bg1"/>
              </a:solidFill>
            </a:endParaRPr>
          </a:p>
          <a:p>
            <a:r>
              <a:rPr lang="en-US" altLang="en-US" b="1">
                <a:solidFill>
                  <a:schemeClr val="bg1"/>
                </a:solidFill>
              </a:rPr>
              <a:t>    </a:t>
            </a:r>
            <a:r>
              <a:rPr lang="en-US" altLang="en-US" b="1">
                <a:solidFill>
                  <a:schemeClr val="bg1"/>
                </a:solidFill>
                <a:sym typeface="+mn-ea"/>
              </a:rPr>
              <a:t>voice processing, and automation with real-world applications.</a:t>
            </a:r>
            <a:endParaRPr lang="en-US" altLang="en-US" b="1">
              <a:solidFill>
                <a:schemeClr val="bg1"/>
              </a:solidFill>
            </a:endParaRPr>
          </a:p>
          <a:p>
            <a:endParaRPr lang="en-US" altLang="en-US" b="1">
              <a:solidFill>
                <a:schemeClr val="bg1"/>
              </a:solidFill>
            </a:endParaRPr>
          </a:p>
          <a:p>
            <a:endParaRPr lang="en-US" altLang="en-US" b="1">
              <a:solidFill>
                <a:schemeClr val="bg1"/>
              </a:solidFill>
            </a:endParaRPr>
          </a:p>
          <a:p>
            <a:endParaRPr lang="en-US" altLang="en-US" b="1">
              <a:solidFill>
                <a:schemeClr val="bg1"/>
              </a:solidFill>
            </a:endParaRPr>
          </a:p>
          <a:p>
            <a:endParaRPr lang="en-US" altLang="en-US" b="1">
              <a:solidFill>
                <a:schemeClr val="bg1"/>
              </a:solidFill>
            </a:endParaRPr>
          </a:p>
          <a:p>
            <a:endParaRPr lang="en-US" altLang="en-US" b="1">
              <a:solidFill>
                <a:schemeClr val="bg1"/>
              </a:solidFill>
            </a:endParaRPr>
          </a:p>
          <a:p>
            <a:endParaRPr lang="en-US" altLang="en-US" b="1">
              <a:solidFill>
                <a:schemeClr val="bg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337" name="图片 1"/>
          <p:cNvPicPr>
            <a:picLocks noChangeAspect="1"/>
          </p:cNvPicPr>
          <p:nvPr/>
        </p:nvPicPr>
        <p:blipFill>
          <a:blip r:embed="rId1"/>
          <a:srcRect l="14185" t="24529" r="26515" b="27426"/>
          <a:stretch>
            <a:fillRect/>
          </a:stretch>
        </p:blipFill>
        <p:spPr>
          <a:xfrm>
            <a:off x="0" y="0"/>
            <a:ext cx="9144000" cy="6858000"/>
          </a:xfrm>
          <a:prstGeom prst="rect">
            <a:avLst/>
          </a:prstGeom>
          <a:noFill/>
          <a:ln w="9525">
            <a:noFill/>
          </a:ln>
        </p:spPr>
      </p:pic>
      <p:sp>
        <p:nvSpPr>
          <p:cNvPr id="4" name="矩形 3"/>
          <p:cNvSpPr/>
          <p:nvPr/>
        </p:nvSpPr>
        <p:spPr>
          <a:xfrm>
            <a:off x="0" y="0"/>
            <a:ext cx="9144000" cy="685800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n-lt"/>
              <a:ea typeface="+mn-ea"/>
              <a:cs typeface="+mn-cs"/>
            </a:endParaRPr>
          </a:p>
        </p:txBody>
      </p:sp>
      <p:grpSp>
        <p:nvGrpSpPr>
          <p:cNvPr id="14339" name="组合 11"/>
          <p:cNvGrpSpPr/>
          <p:nvPr/>
        </p:nvGrpSpPr>
        <p:grpSpPr>
          <a:xfrm>
            <a:off x="387350" y="512763"/>
            <a:ext cx="550863" cy="612775"/>
            <a:chOff x="680318" y="2563684"/>
            <a:chExt cx="1737312" cy="1935356"/>
          </a:xfrm>
        </p:grpSpPr>
        <p:sp>
          <p:nvSpPr>
            <p:cNvPr id="6" name="六边形 5"/>
            <p:cNvSpPr/>
            <p:nvPr/>
          </p:nvSpPr>
          <p:spPr bwMode="auto">
            <a:xfrm rot="5400000">
              <a:off x="581296" y="2662706"/>
              <a:ext cx="1935356" cy="1737312"/>
            </a:xfrm>
            <a:prstGeom prst="hexagon">
              <a:avLst>
                <a:gd name="adj" fmla="val 28540"/>
                <a:gd name="vf" fmla="val 115470"/>
              </a:avLst>
            </a:prstGeom>
            <a:noFill/>
            <a:ln w="28575">
              <a:solidFill>
                <a:srgbClr val="00B2B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srgbClr val="00B2B8"/>
                </a:solidFill>
                <a:effectLst/>
                <a:uLnTx/>
                <a:uFillTx/>
                <a:latin typeface="+mn-lt"/>
                <a:ea typeface="+mn-ea"/>
                <a:cs typeface="+mn-cs"/>
              </a:endParaRPr>
            </a:p>
          </p:txBody>
        </p:sp>
        <p:sp>
          <p:nvSpPr>
            <p:cNvPr id="11" name="等腰三角形 10"/>
            <p:cNvSpPr/>
            <p:nvPr/>
          </p:nvSpPr>
          <p:spPr>
            <a:xfrm rot="10800000">
              <a:off x="1149563" y="4121332"/>
              <a:ext cx="798821" cy="220740"/>
            </a:xfrm>
            <a:prstGeom prst="triangle">
              <a:avLst/>
            </a:prstGeom>
            <a:solidFill>
              <a:srgbClr val="EDEEE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n-lt"/>
                <a:ea typeface="+mn-ea"/>
                <a:cs typeface="+mn-cs"/>
              </a:endParaRPr>
            </a:p>
          </p:txBody>
        </p:sp>
      </p:grpSp>
      <p:sp>
        <p:nvSpPr>
          <p:cNvPr id="14342" name="文本框 12"/>
          <p:cNvSpPr txBox="1"/>
          <p:nvPr/>
        </p:nvSpPr>
        <p:spPr>
          <a:xfrm>
            <a:off x="428625" y="636588"/>
            <a:ext cx="466725" cy="369887"/>
          </a:xfrm>
          <a:prstGeom prst="rect">
            <a:avLst/>
          </a:prstGeom>
          <a:noFill/>
          <a:ln w="9525">
            <a:noFill/>
          </a:ln>
        </p:spPr>
        <p:txBody>
          <a:bodyPr anchor="t">
            <a:spAutoFit/>
          </a:bodyPr>
          <a:p>
            <a:r>
              <a:rPr lang="en-US" altLang="zh-CN" b="1" dirty="0">
                <a:solidFill>
                  <a:schemeClr val="bg1"/>
                </a:solidFill>
                <a:ea typeface="Calibri" panose="020F0502020204030204" pitchFamily="34" charset="0"/>
              </a:rPr>
              <a:t>01</a:t>
            </a:r>
            <a:endParaRPr lang="zh-CN" altLang="en-US" b="1" dirty="0">
              <a:solidFill>
                <a:schemeClr val="bg1"/>
              </a:solidFill>
              <a:ea typeface="Calibri" panose="020F0502020204030204" pitchFamily="34" charset="0"/>
            </a:endParaRPr>
          </a:p>
        </p:txBody>
      </p:sp>
      <p:sp>
        <p:nvSpPr>
          <p:cNvPr id="14343" name="文本框 13"/>
          <p:cNvSpPr txBox="1"/>
          <p:nvPr/>
        </p:nvSpPr>
        <p:spPr>
          <a:xfrm>
            <a:off x="1003300" y="636588"/>
            <a:ext cx="1727200" cy="644525"/>
          </a:xfrm>
          <a:prstGeom prst="rect">
            <a:avLst/>
          </a:prstGeom>
          <a:noFill/>
          <a:ln w="9525">
            <a:noFill/>
          </a:ln>
        </p:spPr>
        <p:txBody>
          <a:bodyPr anchor="t">
            <a:spAutoFit/>
          </a:bodyPr>
          <a:p>
            <a:r>
              <a:rPr lang="zh-CN" altLang="en-US" b="1" dirty="0">
                <a:solidFill>
                  <a:schemeClr val="bg1"/>
                </a:solidFill>
                <a:ea typeface="Calibri" panose="020F0502020204030204" pitchFamily="34" charset="0"/>
              </a:rPr>
              <a:t>Add your title</a:t>
            </a:r>
            <a:endParaRPr lang="zh-CN" altLang="en-US" b="1" dirty="0">
              <a:solidFill>
                <a:schemeClr val="bg1"/>
              </a:solidFill>
              <a:ea typeface="Calibri" panose="020F0502020204030204" pitchFamily="34" charset="0"/>
            </a:endParaRPr>
          </a:p>
        </p:txBody>
      </p:sp>
      <p:pic>
        <p:nvPicPr>
          <p:cNvPr id="14344" name="Picture 2"/>
          <p:cNvPicPr>
            <a:picLocks noChangeAspect="1"/>
          </p:cNvPicPr>
          <p:nvPr/>
        </p:nvPicPr>
        <p:blipFill>
          <a:blip r:embed="rId2"/>
          <a:srcRect l="15776" r="9071"/>
          <a:stretch>
            <a:fillRect/>
          </a:stretch>
        </p:blipFill>
        <p:spPr>
          <a:xfrm>
            <a:off x="0" y="-20637"/>
            <a:ext cx="9182100" cy="6878637"/>
          </a:xfrm>
          <a:prstGeom prst="rect">
            <a:avLst/>
          </a:prstGeom>
          <a:noFill/>
          <a:ln w="9525">
            <a:noFill/>
          </a:ln>
        </p:spPr>
      </p:pic>
      <p:pic>
        <p:nvPicPr>
          <p:cNvPr id="14345" name="Picture 7"/>
          <p:cNvPicPr>
            <a:picLocks noChangeAspect="1"/>
          </p:cNvPicPr>
          <p:nvPr/>
        </p:nvPicPr>
        <p:blipFill>
          <a:blip r:embed="rId3"/>
          <a:stretch>
            <a:fillRect/>
          </a:stretch>
        </p:blipFill>
        <p:spPr>
          <a:xfrm>
            <a:off x="4808538" y="2604770"/>
            <a:ext cx="4335462" cy="4252913"/>
          </a:xfrm>
          <a:prstGeom prst="rect">
            <a:avLst/>
          </a:prstGeom>
          <a:noFill/>
          <a:ln w="9525">
            <a:noFill/>
          </a:ln>
        </p:spPr>
      </p:pic>
      <p:pic>
        <p:nvPicPr>
          <p:cNvPr id="14346" name="Picture 1"/>
          <p:cNvPicPr>
            <a:picLocks noChangeAspect="1"/>
          </p:cNvPicPr>
          <p:nvPr/>
        </p:nvPicPr>
        <p:blipFill>
          <a:blip r:embed="rId4"/>
          <a:stretch>
            <a:fillRect/>
          </a:stretch>
        </p:blipFill>
        <p:spPr>
          <a:xfrm rot="-178317">
            <a:off x="1482725" y="1068388"/>
            <a:ext cx="2471738" cy="2738437"/>
          </a:xfrm>
          <a:prstGeom prst="rect">
            <a:avLst/>
          </a:prstGeom>
          <a:noFill/>
          <a:ln w="9525">
            <a:noFill/>
          </a:ln>
        </p:spPr>
      </p:pic>
      <p:sp>
        <p:nvSpPr>
          <p:cNvPr id="51" name="Freeform 12"/>
          <p:cNvSpPr>
            <a:spLocks noEditPoints="1"/>
          </p:cNvSpPr>
          <p:nvPr/>
        </p:nvSpPr>
        <p:spPr bwMode="auto">
          <a:xfrm>
            <a:off x="6571615" y="3743960"/>
            <a:ext cx="1648460" cy="1018540"/>
          </a:xfrm>
          <a:custGeom>
            <a:avLst/>
            <a:gdLst>
              <a:gd name="T0" fmla="*/ 44 w 174"/>
              <a:gd name="T1" fmla="*/ 121 h 140"/>
              <a:gd name="T2" fmla="*/ 31 w 174"/>
              <a:gd name="T3" fmla="*/ 140 h 140"/>
              <a:gd name="T4" fmla="*/ 141 w 174"/>
              <a:gd name="T5" fmla="*/ 140 h 140"/>
              <a:gd name="T6" fmla="*/ 128 w 174"/>
              <a:gd name="T7" fmla="*/ 121 h 140"/>
              <a:gd name="T8" fmla="*/ 44 w 174"/>
              <a:gd name="T9" fmla="*/ 121 h 140"/>
              <a:gd name="T10" fmla="*/ 0 w 174"/>
              <a:gd name="T11" fmla="*/ 0 h 140"/>
              <a:gd name="T12" fmla="*/ 0 w 174"/>
              <a:gd name="T13" fmla="*/ 106 h 140"/>
              <a:gd name="T14" fmla="*/ 174 w 174"/>
              <a:gd name="T15" fmla="*/ 106 h 140"/>
              <a:gd name="T16" fmla="*/ 174 w 174"/>
              <a:gd name="T17" fmla="*/ 0 h 140"/>
              <a:gd name="T18" fmla="*/ 0 w 174"/>
              <a:gd name="T19" fmla="*/ 0 h 140"/>
              <a:gd name="T20" fmla="*/ 162 w 174"/>
              <a:gd name="T21" fmla="*/ 95 h 140"/>
              <a:gd name="T22" fmla="*/ 11 w 174"/>
              <a:gd name="T23" fmla="*/ 95 h 140"/>
              <a:gd name="T24" fmla="*/ 11 w 174"/>
              <a:gd name="T25" fmla="*/ 11 h 140"/>
              <a:gd name="T26" fmla="*/ 162 w 174"/>
              <a:gd name="T27" fmla="*/ 11 h 140"/>
              <a:gd name="T28" fmla="*/ 162 w 174"/>
              <a:gd name="T29" fmla="*/ 95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4" h="140">
                <a:moveTo>
                  <a:pt x="44" y="121"/>
                </a:moveTo>
                <a:lnTo>
                  <a:pt x="31" y="140"/>
                </a:lnTo>
                <a:lnTo>
                  <a:pt x="141" y="140"/>
                </a:lnTo>
                <a:lnTo>
                  <a:pt x="128" y="121"/>
                </a:lnTo>
                <a:lnTo>
                  <a:pt x="44" y="121"/>
                </a:lnTo>
                <a:close/>
                <a:moveTo>
                  <a:pt x="0" y="0"/>
                </a:moveTo>
                <a:lnTo>
                  <a:pt x="0" y="106"/>
                </a:lnTo>
                <a:lnTo>
                  <a:pt x="174" y="106"/>
                </a:lnTo>
                <a:lnTo>
                  <a:pt x="174" y="0"/>
                </a:lnTo>
                <a:lnTo>
                  <a:pt x="0" y="0"/>
                </a:lnTo>
                <a:close/>
                <a:moveTo>
                  <a:pt x="162" y="95"/>
                </a:moveTo>
                <a:lnTo>
                  <a:pt x="11" y="95"/>
                </a:lnTo>
                <a:lnTo>
                  <a:pt x="11" y="11"/>
                </a:lnTo>
                <a:lnTo>
                  <a:pt x="162" y="11"/>
                </a:lnTo>
                <a:lnTo>
                  <a:pt x="162" y="95"/>
                </a:lnTo>
                <a:close/>
              </a:path>
            </a:pathLst>
          </a:custGeom>
          <a:solidFill>
            <a:srgbClr val="445469"/>
          </a:solidFill>
          <a:ln>
            <a:noFill/>
          </a:ln>
        </p:spPr>
        <p:txBody>
          <a:bodyPr vert="horz" wrap="square" lIns="91262" tIns="45631" rIns="91262" bIns="4563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395" b="0" i="0" u="none" strike="noStrike" kern="1200" cap="none" spc="0" normalizeH="0" baseline="0" noProof="0">
              <a:ln>
                <a:noFill/>
              </a:ln>
              <a:solidFill>
                <a:srgbClr val="445469"/>
              </a:solidFill>
              <a:effectLst/>
              <a:uLnTx/>
              <a:uFillTx/>
              <a:latin typeface="+mn-lt"/>
              <a:ea typeface="+mn-ea"/>
              <a:cs typeface="+mn-cs"/>
            </a:endParaRPr>
          </a:p>
        </p:txBody>
      </p:sp>
      <p:sp>
        <p:nvSpPr>
          <p:cNvPr id="5" name="Rectangles 4"/>
          <p:cNvSpPr/>
          <p:nvPr/>
        </p:nvSpPr>
        <p:spPr>
          <a:xfrm>
            <a:off x="5788343" y="4874260"/>
            <a:ext cx="3215005" cy="829945"/>
          </a:xfrm>
          <a:prstGeom prst="rect">
            <a:avLst/>
          </a:prstGeom>
          <a:noFill/>
          <a:ln>
            <a:noFill/>
          </a:ln>
        </p:spPr>
        <p:txBody>
          <a:bodyPr wrap="none" rtlCol="0" anchor="t">
            <a:spAutoFit/>
          </a:bodyPr>
          <a:p>
            <a:pPr algn="ctr"/>
            <a:r>
              <a:rPr lang="en-US" altLang="zh-CN" sz="4800" b="1">
                <a:ln w="12700">
                  <a:solidFill>
                    <a:schemeClr val="tx2">
                      <a:lumMod val="75000"/>
                    </a:schemeClr>
                  </a:solidFill>
                  <a:prstDash val="solid"/>
                </a:ln>
                <a:solidFill>
                  <a:schemeClr val="tx1"/>
                </a:solidFill>
                <a:effectLst>
                  <a:outerShdw dist="38100" dir="2640000" algn="bl" rotWithShape="0">
                    <a:schemeClr val="tx2">
                      <a:lumMod val="75000"/>
                    </a:schemeClr>
                  </a:outerShdw>
                </a:effectLst>
                <a:highlight>
                  <a:srgbClr val="FFFF00"/>
                </a:highlight>
              </a:rPr>
              <a:t>THANK YOU</a:t>
            </a:r>
            <a:endParaRPr lang="en-US" altLang="zh-CN" sz="4800" b="1">
              <a:ln w="12700">
                <a:solidFill>
                  <a:schemeClr val="tx2">
                    <a:lumMod val="75000"/>
                  </a:schemeClr>
                </a:solidFill>
                <a:prstDash val="solid"/>
              </a:ln>
              <a:solidFill>
                <a:schemeClr val="tx1"/>
              </a:solidFill>
              <a:effectLst>
                <a:outerShdw dist="38100" dir="2640000" algn="bl" rotWithShape="0">
                  <a:schemeClr val="tx2">
                    <a:lumMod val="75000"/>
                  </a:schemeClr>
                </a:outerShdw>
              </a:effectLst>
              <a:highlight>
                <a:srgbClr val="FFFF00"/>
              </a:highlight>
            </a:endParaRPr>
          </a:p>
        </p:txBody>
      </p:sp>
    </p:spTree>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11255</Words>
  <Application>WPS Presentation</Application>
  <PresentationFormat>全屏显示(4:3)</PresentationFormat>
  <Paragraphs>535</Paragraphs>
  <Slides>19</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19</vt:i4>
      </vt:variant>
    </vt:vector>
  </HeadingPairs>
  <TitlesOfParts>
    <vt:vector size="28" baseType="lpstr">
      <vt:lpstr>Arial</vt:lpstr>
      <vt:lpstr>SimSun</vt:lpstr>
      <vt:lpstr>Wingdings</vt:lpstr>
      <vt:lpstr>Calibri</vt:lpstr>
      <vt:lpstr>Microsoft YaHei</vt:lpstr>
      <vt:lpstr>Arial Unicode MS</vt:lpstr>
      <vt:lpstr>等线</vt:lpstr>
      <vt:lpstr>Calibri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ZhuLong</dc:creator>
  <cp:lastModifiedBy>Hunny Sharma</cp:lastModifiedBy>
  <cp:revision>55</cp:revision>
  <dcterms:created xsi:type="dcterms:W3CDTF">2016-01-11T02:21:00Z</dcterms:created>
  <dcterms:modified xsi:type="dcterms:W3CDTF">2026-03-29T13:24:44Z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1033-12.1.0.25242</vt:lpwstr>
  </property>
  <property fmtid="{D5CDD505-2E9C-101B-9397-08002B2CF9AE}" pid="3" name="ICV">
    <vt:lpwstr>2C5D2B45AED24D03B56A70E9FC634042_13</vt:lpwstr>
  </property>
</Properties>
</file>